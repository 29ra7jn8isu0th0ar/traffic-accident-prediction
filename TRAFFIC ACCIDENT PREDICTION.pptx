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6"/>
  </p:notesMasterIdLst>
  <p:sldIdLst>
    <p:sldId id="256" r:id="rId2"/>
    <p:sldId id="257" r:id="rId3"/>
    <p:sldId id="258" r:id="rId4"/>
    <p:sldId id="259" r:id="rId5"/>
    <p:sldId id="260" r:id="rId6"/>
    <p:sldId id="261" r:id="rId7"/>
    <p:sldId id="263" r:id="rId8"/>
    <p:sldId id="264" r:id="rId9"/>
    <p:sldId id="280" r:id="rId10"/>
    <p:sldId id="268" r:id="rId11"/>
    <p:sldId id="269" r:id="rId12"/>
    <p:sldId id="270" r:id="rId13"/>
    <p:sldId id="271" r:id="rId14"/>
    <p:sldId id="281" r:id="rId15"/>
    <p:sldId id="272" r:id="rId16"/>
    <p:sldId id="273" r:id="rId17"/>
    <p:sldId id="274" r:id="rId18"/>
    <p:sldId id="275" r:id="rId19"/>
    <p:sldId id="282" r:id="rId20"/>
    <p:sldId id="276" r:id="rId21"/>
    <p:sldId id="277" r:id="rId22"/>
    <p:sldId id="278" r:id="rId23"/>
    <p:sldId id="279" r:id="rId24"/>
    <p:sldId id="283" r:id="rId25"/>
    <p:sldId id="265" r:id="rId26"/>
    <p:sldId id="266" r:id="rId27"/>
    <p:sldId id="267" r:id="rId28"/>
    <p:sldId id="290" r:id="rId29"/>
    <p:sldId id="284" r:id="rId30"/>
    <p:sldId id="287" r:id="rId31"/>
    <p:sldId id="292" r:id="rId32"/>
    <p:sldId id="293" r:id="rId33"/>
    <p:sldId id="294" r:id="rId34"/>
    <p:sldId id="285" r:id="rId35"/>
    <p:sldId id="288" r:id="rId36"/>
    <p:sldId id="295" r:id="rId37"/>
    <p:sldId id="296" r:id="rId38"/>
    <p:sldId id="286" r:id="rId39"/>
    <p:sldId id="289" r:id="rId40"/>
    <p:sldId id="291" r:id="rId41"/>
    <p:sldId id="297" r:id="rId42"/>
    <p:sldId id="298" r:id="rId43"/>
    <p:sldId id="299" r:id="rId44"/>
    <p:sldId id="300"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559" autoAdjust="0"/>
    <p:restoredTop sz="94660"/>
  </p:normalViewPr>
  <p:slideViewPr>
    <p:cSldViewPr>
      <p:cViewPr varScale="1">
        <p:scale>
          <a:sx n="68" d="100"/>
          <a:sy n="68" d="100"/>
        </p:scale>
        <p:origin x="-148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1B0FF8-DDE2-42D4-8D33-61BC9BD7AD19}" type="datetimeFigureOut">
              <a:rPr lang="en-US" smtClean="0"/>
              <a:pPr/>
              <a:t>5/12/2024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8FD57D-6A36-41B2-AABD-566DF4E07A3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7FCF024-90CC-4023-878D-9995719327B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B9370B-140A-469D-A21D-918C8A807BA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7FCF024-90CC-4023-878D-9995719327B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B9370B-140A-469D-A21D-918C8A807BA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7FCF024-90CC-4023-878D-9995719327B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B9370B-140A-469D-A21D-918C8A807BA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7FCF024-90CC-4023-878D-9995719327B9}" type="datetimeFigureOut">
              <a:rPr lang="en-US" smtClean="0"/>
              <a:pPr/>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B9370B-140A-469D-A21D-918C8A807BA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7FCF024-90CC-4023-878D-9995719327B9}" type="datetimeFigureOut">
              <a:rPr lang="en-US" smtClean="0"/>
              <a:pPr/>
              <a:t>5/12/2024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B9370B-140A-469D-A21D-918C8A807BA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7FCF024-90CC-4023-878D-9995719327B9}" type="datetimeFigureOut">
              <a:rPr lang="en-US" smtClean="0"/>
              <a:pPr/>
              <a:t>5/12/2024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B9370B-140A-469D-A21D-918C8A807BA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FCF024-90CC-4023-878D-9995719327B9}" type="datetimeFigureOut">
              <a:rPr lang="en-US" smtClean="0"/>
              <a:pPr/>
              <a:t>5/12/2024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B9370B-140A-469D-A21D-918C8A807BA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FCF024-90CC-4023-878D-9995719327B9}" type="datetimeFigureOut">
              <a:rPr lang="en-US" smtClean="0"/>
              <a:pPr/>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B9370B-140A-469D-A21D-918C8A807BA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FCF024-90CC-4023-878D-9995719327B9}" type="datetimeFigureOut">
              <a:rPr lang="en-US" smtClean="0"/>
              <a:pPr/>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B9370B-140A-469D-A21D-918C8A807BA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7FCF024-90CC-4023-878D-9995719327B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B9370B-140A-469D-A21D-918C8A807BA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7FCF024-90CC-4023-878D-9995719327B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B9370B-140A-469D-A21D-918C8A807BA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FCF024-90CC-4023-878D-9995719327B9}" type="datetimeFigureOut">
              <a:rPr lang="en-US" smtClean="0"/>
              <a:pPr/>
              <a:t>5/12/2024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B9370B-140A-469D-A21D-918C8A807BA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devansodariya/road-accident-united-kingdom-uk-dataset" TargetMode="External"/><Relationship Id="rId2" Type="http://schemas.openxmlformats.org/officeDocument/2006/relationships/hyperlink" Target="https://www.kaggle.com/datasets/sobhanmoosavi/us-accidents/data" TargetMode="External"/><Relationship Id="rId1" Type="http://schemas.openxmlformats.org/officeDocument/2006/relationships/slideLayout" Target="../slideLayouts/slideLayout2.xml"/><Relationship Id="rId5" Type="http://schemas.openxmlformats.org/officeDocument/2006/relationships/hyperlink" Target="https://www.kaggle.com/datasets/manugupta/road-accidents-in-india" TargetMode="External"/><Relationship Id="rId4" Type="http://schemas.openxmlformats.org/officeDocument/2006/relationships/hyperlink" Target="https://www.openml.org/search?type=data&amp;status=active&amp;id=43372&amp;sort=runs"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43000"/>
            <a:ext cx="7772400" cy="1470025"/>
          </a:xfrm>
        </p:spPr>
        <p:txBody>
          <a:bodyPr>
            <a:normAutofit fontScale="90000"/>
          </a:bodyPr>
          <a:lstStyle/>
          <a:p>
            <a:r>
              <a:rPr lang="en-US" b="1" dirty="0"/>
              <a:t>TRAFFIC ACCIDENT PREDICTION</a:t>
            </a:r>
            <a:r>
              <a:rPr lang="en-US" b="0" dirty="0" smtClean="0"/>
              <a:t/>
            </a:r>
            <a:br>
              <a:rPr lang="en-US" b="0" dirty="0" smtClean="0"/>
            </a:br>
            <a:r>
              <a:rPr lang="en-US" dirty="0" smtClean="0"/>
              <a:t/>
            </a:r>
            <a:br>
              <a:rPr lang="en-US" dirty="0" smtClean="0"/>
            </a:br>
            <a:endParaRPr lang="en-US" dirty="0"/>
          </a:p>
        </p:txBody>
      </p:sp>
      <p:sp>
        <p:nvSpPr>
          <p:cNvPr id="3" name="Subtitle 2"/>
          <p:cNvSpPr>
            <a:spLocks noGrp="1"/>
          </p:cNvSpPr>
          <p:nvPr>
            <p:ph type="subTitle" idx="1"/>
          </p:nvPr>
        </p:nvSpPr>
        <p:spPr>
          <a:xfrm>
            <a:off x="1066800" y="4191000"/>
            <a:ext cx="6781800" cy="990600"/>
          </a:xfrm>
        </p:spPr>
        <p:txBody>
          <a:bodyPr>
            <a:normAutofit/>
          </a:bodyPr>
          <a:lstStyle/>
          <a:p>
            <a:r>
              <a:rPr lang="en-US" dirty="0"/>
              <a:t>COMPUTER SCIENCE ENGINEERING </a:t>
            </a:r>
            <a:endParaRPr lang="en-US" dirty="0" smtClean="0"/>
          </a:p>
          <a:p>
            <a:endParaRPr lang="en-US" dirty="0" smtClean="0"/>
          </a:p>
          <a:p>
            <a:endParaRPr lang="en-US" dirty="0"/>
          </a:p>
          <a:p>
            <a:endParaRPr lang="en-US" dirty="0" smtClean="0"/>
          </a:p>
          <a:p>
            <a:endParaRPr lang="en-US" dirty="0"/>
          </a:p>
        </p:txBody>
      </p:sp>
      <p:pic>
        <p:nvPicPr>
          <p:cNvPr id="1026" name="Picture 2" descr="https://lh7-us.googleusercontent.com/yd4cW1V4B0yv5oYQojLgy7HR-bVk3EFIa6u3ZlCPQt2jxcyd3k8JDwCeH7quq7xmOfcwd_M_YS44J1u2rGpjYGG4BMHU-xY92eRRQDFf2khcGPXUWiy32EhZuw0JR990iN6cMAKeobsCfuSdZknPzkw"/>
          <p:cNvPicPr>
            <a:picLocks noChangeAspect="1" noChangeArrowheads="1"/>
          </p:cNvPicPr>
          <p:nvPr/>
        </p:nvPicPr>
        <p:blipFill>
          <a:blip r:embed="rId2"/>
          <a:srcRect/>
          <a:stretch>
            <a:fillRect/>
          </a:stretch>
        </p:blipFill>
        <p:spPr bwMode="auto">
          <a:xfrm>
            <a:off x="3581400" y="1981200"/>
            <a:ext cx="2095500" cy="2057401"/>
          </a:xfrm>
          <a:prstGeom prst="rect">
            <a:avLst/>
          </a:prstGeom>
          <a:noFill/>
        </p:spPr>
      </p:pic>
      <p:sp>
        <p:nvSpPr>
          <p:cNvPr id="6" name="TextBox 5"/>
          <p:cNvSpPr txBox="1"/>
          <p:nvPr/>
        </p:nvSpPr>
        <p:spPr>
          <a:xfrm>
            <a:off x="762000" y="5334000"/>
            <a:ext cx="3823354" cy="369332"/>
          </a:xfrm>
          <a:prstGeom prst="rect">
            <a:avLst/>
          </a:prstGeom>
          <a:noFill/>
        </p:spPr>
        <p:txBody>
          <a:bodyPr wrap="none" rtlCol="0">
            <a:spAutoFit/>
          </a:bodyPr>
          <a:lstStyle/>
          <a:p>
            <a:r>
              <a:rPr lang="en-US" dirty="0" smtClean="0"/>
              <a:t>SUBMITTED TO:- DR. KAMLESH DUTTA </a:t>
            </a:r>
            <a:endParaRPr lang="en-US" dirty="0"/>
          </a:p>
        </p:txBody>
      </p:sp>
      <p:sp>
        <p:nvSpPr>
          <p:cNvPr id="7" name="TextBox 6"/>
          <p:cNvSpPr txBox="1"/>
          <p:nvPr/>
        </p:nvSpPr>
        <p:spPr>
          <a:xfrm>
            <a:off x="5105400" y="5334000"/>
            <a:ext cx="3114507" cy="1200329"/>
          </a:xfrm>
          <a:prstGeom prst="rect">
            <a:avLst/>
          </a:prstGeom>
          <a:noFill/>
        </p:spPr>
        <p:txBody>
          <a:bodyPr wrap="none" rtlCol="0">
            <a:spAutoFit/>
          </a:bodyPr>
          <a:lstStyle/>
          <a:p>
            <a:r>
              <a:rPr lang="en-US" dirty="0" smtClean="0"/>
              <a:t>SUBMITTED BY:- RAJNI SUTHAR</a:t>
            </a:r>
          </a:p>
          <a:p>
            <a:r>
              <a:rPr lang="en-US" dirty="0" smtClean="0"/>
              <a:t>ROLL NUMBER:- 20DCS018</a:t>
            </a:r>
            <a:endParaRPr lang="en-US" b="0" dirty="0" smtClean="0"/>
          </a:p>
          <a:p>
            <a:endParaRPr lang="en-US" dirty="0" smtClean="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3200400" cy="1219200"/>
          </a:xfrm>
        </p:spPr>
        <p:txBody>
          <a:bodyPr/>
          <a:lstStyle/>
          <a:p>
            <a:r>
              <a:rPr lang="en-US" dirty="0" smtClean="0"/>
              <a:t>OUTLINES</a:t>
            </a:r>
            <a:endParaRPr lang="en-US" dirty="0"/>
          </a:p>
        </p:txBody>
      </p:sp>
      <p:sp>
        <p:nvSpPr>
          <p:cNvPr id="3" name="Content Placeholder 2"/>
          <p:cNvSpPr>
            <a:spLocks noGrp="1"/>
          </p:cNvSpPr>
          <p:nvPr>
            <p:ph idx="1"/>
          </p:nvPr>
        </p:nvSpPr>
        <p:spPr/>
        <p:txBody>
          <a:bodyPr>
            <a:normAutofit lnSpcReduction="10000"/>
          </a:bodyPr>
          <a:lstStyle/>
          <a:p>
            <a:pPr marL="457200" indent="-457200" fontAlgn="base">
              <a:buFont typeface="+mj-lt"/>
              <a:buAutoNum type="arabicPeriod"/>
            </a:pPr>
            <a:r>
              <a:rPr lang="en-US" sz="2400" dirty="0" smtClean="0"/>
              <a:t>Introduction</a:t>
            </a:r>
            <a:endParaRPr lang="en-US" sz="2400" dirty="0"/>
          </a:p>
          <a:p>
            <a:pPr marL="457200" indent="-457200" fontAlgn="base">
              <a:buFont typeface="+mj-lt"/>
              <a:buAutoNum type="arabicPeriod"/>
            </a:pPr>
            <a:r>
              <a:rPr lang="en-US" sz="2400" dirty="0" smtClean="0"/>
              <a:t>Objectives</a:t>
            </a:r>
            <a:endParaRPr lang="en-US" sz="2400" dirty="0"/>
          </a:p>
          <a:p>
            <a:pPr marL="457200" indent="-457200" fontAlgn="base">
              <a:buFont typeface="+mj-lt"/>
              <a:buAutoNum type="arabicPeriod"/>
            </a:pPr>
            <a:r>
              <a:rPr lang="en-US" sz="2400" dirty="0" smtClean="0"/>
              <a:t>Dataset </a:t>
            </a:r>
            <a:r>
              <a:rPr lang="en-US" sz="2400" dirty="0"/>
              <a:t>1</a:t>
            </a:r>
          </a:p>
          <a:p>
            <a:pPr marL="457200" indent="-457200" fontAlgn="base">
              <a:buFont typeface="+mj-lt"/>
              <a:buAutoNum type="arabicPeriod"/>
            </a:pPr>
            <a:r>
              <a:rPr lang="en-US" sz="2400" dirty="0" smtClean="0"/>
              <a:t>Dataset </a:t>
            </a:r>
            <a:r>
              <a:rPr lang="en-US" sz="2400" dirty="0"/>
              <a:t>2</a:t>
            </a:r>
          </a:p>
          <a:p>
            <a:pPr marL="457200" indent="-457200" fontAlgn="base">
              <a:buFont typeface="+mj-lt"/>
              <a:buAutoNum type="arabicPeriod"/>
            </a:pPr>
            <a:r>
              <a:rPr lang="en-US" sz="2400" dirty="0" smtClean="0"/>
              <a:t>Dataset </a:t>
            </a:r>
            <a:r>
              <a:rPr lang="en-US" sz="2400" dirty="0"/>
              <a:t>3</a:t>
            </a:r>
          </a:p>
          <a:p>
            <a:pPr marL="457200" indent="-457200" fontAlgn="base">
              <a:buFont typeface="+mj-lt"/>
              <a:buAutoNum type="arabicPeriod"/>
            </a:pPr>
            <a:r>
              <a:rPr lang="en-US" sz="2400" dirty="0" smtClean="0"/>
              <a:t>Dataset 4</a:t>
            </a:r>
          </a:p>
          <a:p>
            <a:pPr marL="457200" indent="-457200" fontAlgn="base">
              <a:buFont typeface="+mj-lt"/>
              <a:buAutoNum type="arabicPeriod"/>
            </a:pPr>
            <a:r>
              <a:rPr lang="en-US" sz="2400" dirty="0" smtClean="0"/>
              <a:t>Models</a:t>
            </a:r>
          </a:p>
          <a:p>
            <a:pPr marL="457200" indent="-457200" fontAlgn="base">
              <a:buFont typeface="+mj-lt"/>
              <a:buAutoNum type="arabicPeriod"/>
            </a:pPr>
            <a:r>
              <a:rPr lang="en-US" sz="2400" dirty="0" smtClean="0"/>
              <a:t>Evaluation Metrics</a:t>
            </a:r>
          </a:p>
          <a:p>
            <a:pPr marL="457200" indent="-457200" fontAlgn="base">
              <a:buFont typeface="+mj-lt"/>
              <a:buAutoNum type="arabicPeriod"/>
            </a:pPr>
            <a:r>
              <a:rPr lang="en-US" sz="2400" dirty="0" smtClean="0"/>
              <a:t>Summary</a:t>
            </a:r>
            <a:endParaRPr lang="en-US" sz="2400" dirty="0"/>
          </a:p>
          <a:p>
            <a:pPr marL="457200" indent="-457200">
              <a:buNone/>
            </a:pPr>
            <a:r>
              <a:rPr lang="en-US" sz="2400" dirty="0" smtClean="0"/>
              <a:t/>
            </a:r>
            <a:br>
              <a:rPr lang="en-US" sz="2400" dirty="0" smtClean="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3505200" cy="1143000"/>
          </a:xfrm>
        </p:spPr>
        <p:txBody>
          <a:bodyPr>
            <a:normAutofit fontScale="90000"/>
          </a:bodyPr>
          <a:lstStyle/>
          <a:p>
            <a:r>
              <a:rPr lang="en-US" dirty="0" smtClean="0">
                <a:latin typeface="Calibri" panose="020F0502020204030204" pitchFamily="34" charset="0"/>
                <a:ea typeface="Calibri" panose="020F0502020204030204" pitchFamily="34" charset="0"/>
                <a:cs typeface="Calibri" panose="020F0502020204030204" pitchFamily="34" charset="0"/>
              </a:rPr>
              <a:t>Introduction</a:t>
            </a:r>
            <a:br>
              <a:rPr lang="en-US" dirty="0" smtClean="0">
                <a:latin typeface="Calibri" panose="020F0502020204030204" pitchFamily="34" charset="0"/>
                <a:ea typeface="Calibri" panose="020F0502020204030204" pitchFamily="34" charset="0"/>
                <a:cs typeface="Calibri" panose="020F0502020204030204" pitchFamily="34" charset="0"/>
              </a:rPr>
            </a:br>
            <a:endParaRPr lang="en-US" dirty="0"/>
          </a:p>
        </p:txBody>
      </p:sp>
      <p:sp>
        <p:nvSpPr>
          <p:cNvPr id="3" name="Content Placeholder 2"/>
          <p:cNvSpPr>
            <a:spLocks noGrp="1"/>
          </p:cNvSpPr>
          <p:nvPr>
            <p:ph idx="1"/>
          </p:nvPr>
        </p:nvSpPr>
        <p:spPr/>
        <p:txBody>
          <a:bodyPr>
            <a:normAutofit/>
          </a:bodyPr>
          <a:lstStyle/>
          <a:p>
            <a:pPr>
              <a:buNone/>
            </a:pPr>
            <a:r>
              <a:rPr lang="en-US" sz="2400" dirty="0" smtClean="0"/>
              <a:t>     </a:t>
            </a:r>
            <a:r>
              <a:rPr lang="en-US" sz="2000" b="1" dirty="0"/>
              <a:t> </a:t>
            </a:r>
            <a:r>
              <a:rPr lang="en-US" sz="2000" dirty="0"/>
              <a:t>Traffic accidents are a significant public safety concern that results in the loss of lives, injuries, property damage, and substantial economic costs. The ability to predict and mitigate the occurrence of traffic accidents has gained immense importance in recent years, driven by advancements in data analytics, machine learning, and a growing awareness of the need for improved road safety. Traffic accident prediction refers to the application of data-driven models and analytics techniques to anticipate where and when accidents are likely to happen, with the goal of reducing their frequency and severity</a:t>
            </a:r>
            <a:r>
              <a:rPr lang="en-US" sz="2000" b="1" dirty="0"/>
              <a:t>.</a:t>
            </a:r>
            <a:endParaRPr lang="en-US" sz="2000" b="0" dirty="0" smtClean="0"/>
          </a:p>
          <a:p>
            <a:pPr>
              <a:buNone/>
            </a:pPr>
            <a:r>
              <a:rPr lang="en-US" sz="2000" b="0" dirty="0" smtClean="0"/>
              <a:t/>
            </a:r>
            <a:br>
              <a:rPr lang="en-US" sz="2000" b="0" dirty="0" smtClean="0"/>
            </a:br>
            <a:r>
              <a:rPr lang="en-US" sz="2000" b="0" dirty="0" smtClean="0"/>
              <a:t/>
            </a:r>
            <a:br>
              <a:rPr lang="en-US" sz="2000" b="0" dirty="0" smtClean="0"/>
            </a:b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3048000" cy="1143000"/>
          </a:xfrm>
        </p:spPr>
        <p:txBody>
          <a:bodyPr>
            <a:normAutofit/>
          </a:bodyPr>
          <a:lstStyle/>
          <a:p>
            <a:pPr marL="457200" indent="-457200" fontAlgn="base"/>
            <a:r>
              <a:rPr lang="en-US" dirty="0" smtClean="0"/>
              <a:t>Objectives</a:t>
            </a:r>
            <a:endParaRPr lang="en-US" dirty="0"/>
          </a:p>
        </p:txBody>
      </p:sp>
      <p:sp>
        <p:nvSpPr>
          <p:cNvPr id="3" name="Content Placeholder 2"/>
          <p:cNvSpPr>
            <a:spLocks noGrp="1"/>
          </p:cNvSpPr>
          <p:nvPr>
            <p:ph idx="1"/>
          </p:nvPr>
        </p:nvSpPr>
        <p:spPr/>
        <p:txBody>
          <a:bodyPr>
            <a:normAutofit/>
          </a:bodyPr>
          <a:lstStyle/>
          <a:p>
            <a:pPr>
              <a:buNone/>
            </a:pPr>
            <a:r>
              <a:rPr lang="en-US" sz="2000" dirty="0" smtClean="0"/>
              <a:t>     The </a:t>
            </a:r>
            <a:r>
              <a:rPr lang="en-US" sz="2000" dirty="0"/>
              <a:t>objectives of traffic accident prediction are to improve road safety, reduce the frequency and severity of traffic accidents, and minimize the associated economic and social costs. Here are the specific objectives of traffic accident prediction.</a:t>
            </a:r>
            <a:endParaRPr lang="en-US" sz="2000" b="0" dirty="0" smtClean="0"/>
          </a:p>
          <a:p>
            <a:pPr>
              <a:buNone/>
            </a:pPr>
            <a:r>
              <a:rPr lang="en-US" sz="2000" b="0" dirty="0" smtClean="0"/>
              <a:t/>
            </a:r>
            <a:br>
              <a:rPr lang="en-US" sz="2000" b="0" dirty="0" smtClean="0"/>
            </a:br>
            <a:r>
              <a:rPr lang="en-US" sz="2000" b="0" dirty="0" smtClean="0"/>
              <a:t/>
            </a:r>
            <a:br>
              <a:rPr lang="en-US" sz="2000" b="0" dirty="0" smtClean="0"/>
            </a:br>
            <a:endParaRPr lang="en-US" sz="2000" dirty="0"/>
          </a:p>
        </p:txBody>
      </p:sp>
      <p:sp>
        <p:nvSpPr>
          <p:cNvPr id="4" name="TextBox 3"/>
          <p:cNvSpPr txBox="1"/>
          <p:nvPr/>
        </p:nvSpPr>
        <p:spPr>
          <a:xfrm>
            <a:off x="762000" y="3048000"/>
            <a:ext cx="7086600" cy="1077218"/>
          </a:xfrm>
          <a:prstGeom prst="rect">
            <a:avLst/>
          </a:prstGeom>
          <a:noFill/>
        </p:spPr>
        <p:txBody>
          <a:bodyPr wrap="square" rtlCol="0">
            <a:spAutoFit/>
          </a:bodyPr>
          <a:lstStyle/>
          <a:p>
            <a:r>
              <a:rPr lang="en-US" sz="2800" dirty="0"/>
              <a:t>Datasets for Traffic Accident Prediction </a:t>
            </a:r>
            <a:endParaRPr lang="en-US" sz="2800" dirty="0" smtClean="0"/>
          </a:p>
          <a:p>
            <a:r>
              <a:rPr lang="en-US" dirty="0" smtClean="0"/>
              <a:t/>
            </a:r>
            <a:br>
              <a:rPr lang="en-US" dirty="0" smtClean="0"/>
            </a:br>
            <a:endParaRPr lang="en-US" dirty="0"/>
          </a:p>
        </p:txBody>
      </p:sp>
      <p:sp>
        <p:nvSpPr>
          <p:cNvPr id="5" name="TextBox 4"/>
          <p:cNvSpPr txBox="1"/>
          <p:nvPr/>
        </p:nvSpPr>
        <p:spPr>
          <a:xfrm>
            <a:off x="762000" y="3657600"/>
            <a:ext cx="8382000" cy="3693319"/>
          </a:xfrm>
          <a:prstGeom prst="rect">
            <a:avLst/>
          </a:prstGeom>
          <a:noFill/>
        </p:spPr>
        <p:txBody>
          <a:bodyPr wrap="square" rtlCol="0">
            <a:spAutoFit/>
          </a:bodyPr>
          <a:lstStyle/>
          <a:p>
            <a:r>
              <a:rPr lang="en-US" b="1" dirty="0"/>
              <a:t>Data </a:t>
            </a:r>
            <a:r>
              <a:rPr lang="en-US" b="1" dirty="0" smtClean="0"/>
              <a:t>Set1 </a:t>
            </a:r>
            <a:r>
              <a:rPr lang="en-US" b="1" dirty="0"/>
              <a:t>: US Accidents (2016 - 2023) (</a:t>
            </a:r>
            <a:r>
              <a:rPr lang="en-US" b="1" u="sng" dirty="0">
                <a:hlinkClick r:id="rId2"/>
              </a:rPr>
              <a:t>https://www.kaggle.com/datasets/sobhanmoosavi/us-accidents/data</a:t>
            </a:r>
            <a:r>
              <a:rPr lang="en-US" b="1" dirty="0"/>
              <a:t>)</a:t>
            </a:r>
            <a:endParaRPr lang="en-US" b="1" dirty="0" smtClean="0"/>
          </a:p>
          <a:p>
            <a:r>
              <a:rPr lang="en-US" b="1" dirty="0"/>
              <a:t>Data Set </a:t>
            </a:r>
            <a:r>
              <a:rPr lang="en-US" b="1" dirty="0" smtClean="0"/>
              <a:t>2:Road </a:t>
            </a:r>
            <a:r>
              <a:rPr lang="en-US" b="1" dirty="0"/>
              <a:t>Accident (United Kingdom (UK)) Dataset(</a:t>
            </a:r>
            <a:r>
              <a:rPr lang="en-US" b="1" u="sng" dirty="0">
                <a:hlinkClick r:id="rId3"/>
              </a:rPr>
              <a:t>https://www.kaggle.com/datasets/devansodariya/road-accident-united-kingdom-uk-dataset</a:t>
            </a:r>
            <a:r>
              <a:rPr lang="en-US" b="1" dirty="0"/>
              <a:t>)</a:t>
            </a:r>
            <a:endParaRPr lang="en-US" b="1" dirty="0" smtClean="0"/>
          </a:p>
          <a:p>
            <a:r>
              <a:rPr lang="en-US" b="1" dirty="0"/>
              <a:t>Data Set </a:t>
            </a:r>
            <a:r>
              <a:rPr lang="en-US" b="1" dirty="0" smtClean="0"/>
              <a:t>3:Hazardous-Driving-Spots-Around-the-World(</a:t>
            </a:r>
            <a:r>
              <a:rPr lang="en-US" b="1" u="sng" dirty="0" smtClean="0">
                <a:hlinkClick r:id="rId4"/>
              </a:rPr>
              <a:t>https</a:t>
            </a:r>
            <a:r>
              <a:rPr lang="en-US" b="1" u="sng" dirty="0">
                <a:hlinkClick r:id="rId4"/>
              </a:rPr>
              <a:t>://www.openml.org/search?type=data&amp;status=active&amp;id=43372&amp;sort=runs</a:t>
            </a:r>
            <a:r>
              <a:rPr lang="en-US" b="1" dirty="0"/>
              <a:t>)</a:t>
            </a:r>
            <a:endParaRPr lang="en-US" b="1" dirty="0" smtClean="0"/>
          </a:p>
          <a:p>
            <a:r>
              <a:rPr lang="en-US" b="1" dirty="0"/>
              <a:t>Data Set </a:t>
            </a:r>
            <a:r>
              <a:rPr lang="en-US" b="1" dirty="0" smtClean="0"/>
              <a:t>4: </a:t>
            </a:r>
            <a:r>
              <a:rPr lang="en-US" b="1" dirty="0"/>
              <a:t>Road Accidents in India (</a:t>
            </a:r>
            <a:r>
              <a:rPr lang="en-US" b="1" u="sng" dirty="0">
                <a:hlinkClick r:id="rId5"/>
              </a:rPr>
              <a:t>Road Accidents in India (kaggle.com)</a:t>
            </a:r>
            <a:r>
              <a:rPr lang="en-US" b="1" dirty="0"/>
              <a:t>)</a:t>
            </a:r>
            <a:endParaRPr lang="en-US" b="1" dirty="0" smtClean="0"/>
          </a:p>
          <a:p>
            <a:r>
              <a:rPr lang="en-US" b="0" dirty="0" smtClean="0"/>
              <a:t/>
            </a:r>
            <a:br>
              <a:rPr lang="en-US" b="0" dirty="0" smtClean="0"/>
            </a:br>
            <a:r>
              <a:rPr lang="en-US" b="0" dirty="0" smtClean="0"/>
              <a:t/>
            </a:r>
            <a:br>
              <a:rPr lang="en-US" b="0" dirty="0" smtClean="0"/>
            </a:br>
            <a:r>
              <a:rPr lang="en-US" b="0" dirty="0" smtClean="0"/>
              <a:t/>
            </a:r>
            <a:br>
              <a:rPr lang="en-US" b="0" dirty="0" smtClean="0"/>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0"/>
            <a:ext cx="3733800" cy="1143000"/>
          </a:xfrm>
        </p:spPr>
        <p:txBody>
          <a:bodyPr>
            <a:normAutofit fontScale="90000"/>
          </a:bodyPr>
          <a:lstStyle/>
          <a:p>
            <a:r>
              <a:rPr lang="en-US" dirty="0"/>
              <a:t>1st Dataset </a:t>
            </a:r>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a:xfrm>
            <a:off x="457200" y="1143000"/>
            <a:ext cx="8229600" cy="4525963"/>
          </a:xfrm>
        </p:spPr>
        <p:txBody>
          <a:bodyPr/>
          <a:lstStyle/>
          <a:p>
            <a:r>
              <a:rPr lang="en-US" sz="2400" dirty="0" smtClean="0"/>
              <a:t>Data Set Loading </a:t>
            </a:r>
          </a:p>
          <a:p>
            <a:endParaRPr lang="en-US" sz="2400" b="0" dirty="0"/>
          </a:p>
          <a:p>
            <a:endParaRPr lang="en-US" sz="2400" b="0" dirty="0" smtClean="0"/>
          </a:p>
          <a:p>
            <a:pPr>
              <a:buNone/>
            </a:pPr>
            <a:endParaRPr lang="en-US" dirty="0"/>
          </a:p>
        </p:txBody>
      </p:sp>
      <p:pic>
        <p:nvPicPr>
          <p:cNvPr id="5122" name="Picture 2" descr="https://lh7-us.googleusercontent.com/c5i7cCdKXZifRZF1VY4qW9fs5QxKTE3Agqyq3YWtoW_lWo0w4ANeLF_8AmQd9nFV-LZJUbUGOS7IeIeYh45KD-dYfQRC8INe3T5wa0aKevhtkB6r27BvFXnjicOr5yFdOBPcJukgSpjsjaaAzywfjuc"/>
          <p:cNvPicPr>
            <a:picLocks noChangeAspect="1" noChangeArrowheads="1"/>
          </p:cNvPicPr>
          <p:nvPr/>
        </p:nvPicPr>
        <p:blipFill>
          <a:blip r:embed="rId2"/>
          <a:srcRect/>
          <a:stretch>
            <a:fillRect/>
          </a:stretch>
        </p:blipFill>
        <p:spPr bwMode="auto">
          <a:xfrm>
            <a:off x="0" y="1600200"/>
            <a:ext cx="9144000" cy="3484227"/>
          </a:xfrm>
          <a:prstGeom prst="rect">
            <a:avLst/>
          </a:prstGeom>
          <a:noFill/>
        </p:spPr>
      </p:pic>
      <p:sp>
        <p:nvSpPr>
          <p:cNvPr id="6" name="TextBox 5"/>
          <p:cNvSpPr txBox="1"/>
          <p:nvPr/>
        </p:nvSpPr>
        <p:spPr>
          <a:xfrm>
            <a:off x="762000" y="4800600"/>
            <a:ext cx="8229600" cy="1415772"/>
          </a:xfrm>
          <a:prstGeom prst="rect">
            <a:avLst/>
          </a:prstGeom>
          <a:noFill/>
        </p:spPr>
        <p:txBody>
          <a:bodyPr wrap="square" rtlCol="0">
            <a:spAutoFit/>
          </a:bodyPr>
          <a:lstStyle/>
          <a:p>
            <a:pPr>
              <a:buFont typeface="Arial" pitchFamily="34" charset="0"/>
              <a:buChar char="•"/>
            </a:pPr>
            <a:endParaRPr lang="en-US" b="1" dirty="0" smtClean="0"/>
          </a:p>
          <a:p>
            <a:pPr>
              <a:buFont typeface="Arial" pitchFamily="34" charset="0"/>
              <a:buChar char="•"/>
            </a:pPr>
            <a:r>
              <a:rPr lang="en-US" sz="2400" dirty="0" smtClean="0"/>
              <a:t> Check Weather Data Set </a:t>
            </a:r>
            <a:r>
              <a:rPr lang="en-US" sz="2400" dirty="0"/>
              <a:t>is </a:t>
            </a:r>
            <a:r>
              <a:rPr lang="en-US" sz="2400" dirty="0" smtClean="0"/>
              <a:t>imbalanced</a:t>
            </a:r>
            <a:r>
              <a:rPr lang="en-US" sz="2400" b="1" dirty="0" smtClean="0"/>
              <a:t> :   </a:t>
            </a:r>
            <a:endParaRPr lang="en-US" sz="2400" dirty="0" smtClean="0"/>
          </a:p>
          <a:p>
            <a:r>
              <a:rPr lang="en-US" sz="2400" dirty="0"/>
              <a:t> </a:t>
            </a:r>
            <a:r>
              <a:rPr lang="en-US" sz="2400" dirty="0" smtClean="0"/>
              <a:t>  </a:t>
            </a:r>
            <a:r>
              <a:rPr lang="en-US" sz="2000" dirty="0" smtClean="0"/>
              <a:t>Imbalanced Columns: ['Accident Date', '1st Road Class &amp; No', 'Local Authority']</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Mean , Median or Mode for Dataset 1:</a:t>
            </a:r>
            <a:r>
              <a:rPr lang="en-US" b="1" dirty="0" smtClean="0"/>
              <a:t/>
            </a:r>
            <a:br>
              <a:rPr lang="en-US" b="1" dirty="0" smtClean="0"/>
            </a:br>
            <a:endParaRPr lang="en-US" dirty="0"/>
          </a:p>
        </p:txBody>
      </p:sp>
      <p:sp>
        <p:nvSpPr>
          <p:cNvPr id="3" name="Content Placeholder 2"/>
          <p:cNvSpPr>
            <a:spLocks noGrp="1"/>
          </p:cNvSpPr>
          <p:nvPr>
            <p:ph idx="1"/>
          </p:nvPr>
        </p:nvSpPr>
        <p:spPr>
          <a:xfrm>
            <a:off x="228600" y="990600"/>
            <a:ext cx="8686800" cy="5867400"/>
          </a:xfrm>
        </p:spPr>
        <p:txBody>
          <a:bodyPr numCol="3">
            <a:normAutofit fontScale="47500" lnSpcReduction="20000"/>
          </a:bodyPr>
          <a:lstStyle/>
          <a:p>
            <a:pPr>
              <a:buNone/>
            </a:pPr>
            <a:r>
              <a:rPr lang="en-US" dirty="0" smtClean="0"/>
              <a:t>       </a:t>
            </a:r>
            <a:r>
              <a:rPr lang="en-US" b="1" dirty="0" smtClean="0"/>
              <a:t>Column</a:t>
            </a:r>
            <a:r>
              <a:rPr lang="en-US" b="1" dirty="0"/>
              <a:t>: Grid Ref: Easting</a:t>
            </a:r>
            <a:endParaRPr lang="en-US" b="1" dirty="0" smtClean="0"/>
          </a:p>
          <a:p>
            <a:r>
              <a:rPr lang="en-US" dirty="0"/>
              <a:t>Mean: 429987.0320802005</a:t>
            </a:r>
            <a:endParaRPr lang="en-US" b="0" dirty="0" smtClean="0"/>
          </a:p>
          <a:p>
            <a:r>
              <a:rPr lang="en-US" dirty="0"/>
              <a:t>Median: 429895.0</a:t>
            </a:r>
            <a:endParaRPr lang="en-US" b="0" dirty="0" smtClean="0"/>
          </a:p>
          <a:p>
            <a:r>
              <a:rPr lang="en-US" dirty="0"/>
              <a:t>Mode: 431457</a:t>
            </a:r>
            <a:endParaRPr lang="en-US" b="0" dirty="0" smtClean="0"/>
          </a:p>
          <a:p>
            <a:pPr>
              <a:buNone/>
            </a:pPr>
            <a:r>
              <a:rPr lang="en-US" b="0" dirty="0" smtClean="0"/>
              <a:t/>
            </a:r>
            <a:br>
              <a:rPr lang="en-US" b="0" dirty="0" smtClean="0"/>
            </a:br>
            <a:r>
              <a:rPr lang="en-US" b="1" dirty="0"/>
              <a:t>Column: Grid Ref: Northing</a:t>
            </a:r>
            <a:endParaRPr lang="en-US" b="1" dirty="0" smtClean="0"/>
          </a:p>
          <a:p>
            <a:r>
              <a:rPr lang="en-US" dirty="0"/>
              <a:t>Mean: 434137.7739348371</a:t>
            </a:r>
            <a:endParaRPr lang="en-US" b="0" dirty="0" smtClean="0"/>
          </a:p>
          <a:p>
            <a:r>
              <a:rPr lang="en-US" dirty="0"/>
              <a:t>Median: 433969.0</a:t>
            </a:r>
            <a:endParaRPr lang="en-US" b="0" dirty="0" smtClean="0"/>
          </a:p>
          <a:p>
            <a:r>
              <a:rPr lang="en-US" dirty="0"/>
              <a:t>Mode: 430270</a:t>
            </a:r>
            <a:endParaRPr lang="en-US" b="0" dirty="0" smtClean="0"/>
          </a:p>
          <a:p>
            <a:pPr>
              <a:buNone/>
            </a:pPr>
            <a:r>
              <a:rPr lang="en-US" b="0" dirty="0" smtClean="0"/>
              <a:t/>
            </a:r>
            <a:br>
              <a:rPr lang="en-US" b="0" dirty="0" smtClean="0"/>
            </a:br>
            <a:r>
              <a:rPr lang="en-US" b="1" dirty="0"/>
              <a:t>Column: Number of Vehicles</a:t>
            </a:r>
            <a:endParaRPr lang="en-US" b="1" dirty="0" smtClean="0"/>
          </a:p>
          <a:p>
            <a:r>
              <a:rPr lang="en-US" dirty="0"/>
              <a:t>Mean: 1.919298245614035</a:t>
            </a:r>
            <a:endParaRPr lang="en-US" b="0" dirty="0" smtClean="0"/>
          </a:p>
          <a:p>
            <a:r>
              <a:rPr lang="en-US" dirty="0"/>
              <a:t>Median: 2.0</a:t>
            </a:r>
            <a:endParaRPr lang="en-US" b="0" dirty="0" smtClean="0"/>
          </a:p>
          <a:p>
            <a:r>
              <a:rPr lang="en-US" dirty="0"/>
              <a:t>Mode: 2</a:t>
            </a:r>
            <a:endParaRPr lang="en-US" b="0" dirty="0" smtClean="0"/>
          </a:p>
          <a:p>
            <a:pPr>
              <a:buNone/>
            </a:pPr>
            <a:r>
              <a:rPr lang="en-US" b="0" dirty="0" smtClean="0"/>
              <a:t/>
            </a:r>
            <a:br>
              <a:rPr lang="en-US" b="0" dirty="0" smtClean="0"/>
            </a:br>
            <a:r>
              <a:rPr lang="en-US" b="1" dirty="0"/>
              <a:t>Column: Time (24hr)</a:t>
            </a:r>
            <a:endParaRPr lang="en-US" b="1" dirty="0" smtClean="0"/>
          </a:p>
          <a:p>
            <a:r>
              <a:rPr lang="en-US" dirty="0"/>
              <a:t>Mean: 1409.3684210526317</a:t>
            </a:r>
            <a:endParaRPr lang="en-US" b="0" dirty="0" smtClean="0"/>
          </a:p>
          <a:p>
            <a:r>
              <a:rPr lang="en-US" dirty="0"/>
              <a:t>Median: 1503.0</a:t>
            </a:r>
            <a:endParaRPr lang="en-US" b="0" dirty="0" smtClean="0"/>
          </a:p>
          <a:p>
            <a:r>
              <a:rPr lang="en-US" dirty="0"/>
              <a:t>Mode: 1500</a:t>
            </a:r>
            <a:endParaRPr lang="en-US" b="0" dirty="0" smtClean="0"/>
          </a:p>
          <a:p>
            <a:pPr>
              <a:buNone/>
            </a:pPr>
            <a:r>
              <a:rPr lang="en-US" b="0" dirty="0" smtClean="0"/>
              <a:t/>
            </a:r>
            <a:br>
              <a:rPr lang="en-US" b="0" dirty="0" smtClean="0"/>
            </a:br>
            <a:r>
              <a:rPr lang="en-US" b="1" dirty="0"/>
              <a:t>Column: 1st Road Class</a:t>
            </a:r>
            <a:endParaRPr lang="en-US" b="1" dirty="0" smtClean="0"/>
          </a:p>
          <a:p>
            <a:r>
              <a:rPr lang="en-US" dirty="0"/>
              <a:t>Mean: 4.449624060150376</a:t>
            </a:r>
            <a:endParaRPr lang="en-US" b="0" dirty="0" smtClean="0"/>
          </a:p>
          <a:p>
            <a:r>
              <a:rPr lang="en-US" dirty="0"/>
              <a:t>Median: 6.0</a:t>
            </a:r>
            <a:endParaRPr lang="en-US" b="0" dirty="0" smtClean="0"/>
          </a:p>
          <a:p>
            <a:r>
              <a:rPr lang="en-US" dirty="0"/>
              <a:t>Mode: 6</a:t>
            </a:r>
            <a:endParaRPr lang="en-US" b="0" dirty="0" smtClean="0"/>
          </a:p>
          <a:p>
            <a:r>
              <a:rPr lang="en-US" b="0" dirty="0" smtClean="0"/>
              <a:t/>
            </a:r>
            <a:br>
              <a:rPr lang="en-US" b="0" dirty="0" smtClean="0"/>
            </a:br>
            <a:r>
              <a:rPr lang="en-US" b="1" dirty="0"/>
              <a:t>Column: Road Surface</a:t>
            </a:r>
            <a:endParaRPr lang="en-US" b="1" dirty="0" smtClean="0"/>
          </a:p>
          <a:p>
            <a:r>
              <a:rPr lang="en-US" dirty="0"/>
              <a:t>Mean: 1.2691729323308272</a:t>
            </a:r>
            <a:endParaRPr lang="en-US" b="0" dirty="0" smtClean="0"/>
          </a:p>
          <a:p>
            <a:r>
              <a:rPr lang="en-US" dirty="0"/>
              <a:t>Median: 1.0</a:t>
            </a:r>
            <a:endParaRPr lang="en-US" b="0" dirty="0" smtClean="0"/>
          </a:p>
          <a:p>
            <a:r>
              <a:rPr lang="en-US" dirty="0"/>
              <a:t>Mode: 1</a:t>
            </a:r>
            <a:endParaRPr lang="en-US" b="0" dirty="0" smtClean="0"/>
          </a:p>
          <a:p>
            <a:pPr>
              <a:buNone/>
            </a:pPr>
            <a:r>
              <a:rPr lang="en-US" b="0" dirty="0" smtClean="0"/>
              <a:t/>
            </a:r>
            <a:br>
              <a:rPr lang="en-US" b="0" dirty="0" smtClean="0"/>
            </a:br>
            <a:r>
              <a:rPr lang="en-US" b="1" dirty="0"/>
              <a:t>Column: Lighting Conditions</a:t>
            </a:r>
            <a:endParaRPr lang="en-US" b="1" dirty="0" smtClean="0"/>
          </a:p>
          <a:p>
            <a:r>
              <a:rPr lang="en-US" dirty="0"/>
              <a:t>Mean: 1.9393483709273183</a:t>
            </a:r>
            <a:endParaRPr lang="en-US" b="0" dirty="0" smtClean="0"/>
          </a:p>
          <a:p>
            <a:r>
              <a:rPr lang="en-US" dirty="0"/>
              <a:t>Median: 1.0</a:t>
            </a:r>
            <a:endParaRPr lang="en-US" b="0" dirty="0" smtClean="0"/>
          </a:p>
          <a:p>
            <a:r>
              <a:rPr lang="en-US" dirty="0"/>
              <a:t>Mode: 1</a:t>
            </a:r>
            <a:endParaRPr lang="en-US" b="0" dirty="0" smtClean="0"/>
          </a:p>
          <a:p>
            <a:pPr>
              <a:buNone/>
            </a:pPr>
            <a:r>
              <a:rPr lang="en-US" b="0" dirty="0" smtClean="0"/>
              <a:t/>
            </a:r>
            <a:br>
              <a:rPr lang="en-US" b="0" dirty="0" smtClean="0"/>
            </a:br>
            <a:r>
              <a:rPr lang="en-US" b="1" dirty="0"/>
              <a:t>Column: Weather Conditions</a:t>
            </a:r>
            <a:endParaRPr lang="en-US" b="1" dirty="0" smtClean="0"/>
          </a:p>
          <a:p>
            <a:r>
              <a:rPr lang="en-US" dirty="0"/>
              <a:t>Mean: 1.2275689223057644</a:t>
            </a:r>
            <a:endParaRPr lang="en-US" b="0" dirty="0" smtClean="0"/>
          </a:p>
          <a:p>
            <a:r>
              <a:rPr lang="en-US" dirty="0"/>
              <a:t>Median: 1.0</a:t>
            </a:r>
            <a:endParaRPr lang="en-US" b="0" dirty="0" smtClean="0"/>
          </a:p>
          <a:p>
            <a:r>
              <a:rPr lang="en-US" dirty="0"/>
              <a:t>Mode: 1</a:t>
            </a:r>
            <a:endParaRPr lang="en-US" b="0" dirty="0" smtClean="0"/>
          </a:p>
          <a:p>
            <a:pPr>
              <a:buNone/>
            </a:pPr>
            <a:r>
              <a:rPr lang="en-US" b="0" dirty="0" smtClean="0"/>
              <a:t/>
            </a:r>
            <a:br>
              <a:rPr lang="en-US" b="0" dirty="0" smtClean="0"/>
            </a:br>
            <a:r>
              <a:rPr lang="en-US" b="1" dirty="0"/>
              <a:t>Column: Vehicle Number</a:t>
            </a:r>
            <a:endParaRPr lang="en-US" b="1" dirty="0" smtClean="0"/>
          </a:p>
          <a:p>
            <a:r>
              <a:rPr lang="en-US" dirty="0"/>
              <a:t>Mean: 1.5042606516290726</a:t>
            </a:r>
            <a:endParaRPr lang="en-US" b="0" dirty="0" smtClean="0"/>
          </a:p>
          <a:p>
            <a:r>
              <a:rPr lang="en-US" dirty="0"/>
              <a:t>Median: 1.0</a:t>
            </a:r>
            <a:endParaRPr lang="en-US" b="0" dirty="0" smtClean="0"/>
          </a:p>
          <a:p>
            <a:r>
              <a:rPr lang="en-US" dirty="0"/>
              <a:t>Mode: 1</a:t>
            </a:r>
            <a:endParaRPr lang="en-US" b="0" dirty="0" smtClean="0"/>
          </a:p>
          <a:p>
            <a:pPr>
              <a:buNone/>
            </a:pPr>
            <a:r>
              <a:rPr lang="en-US" b="0" dirty="0" smtClean="0"/>
              <a:t/>
            </a:r>
            <a:br>
              <a:rPr lang="en-US" b="0" dirty="0" smtClean="0"/>
            </a:br>
            <a:r>
              <a:rPr lang="en-US" b="1" dirty="0"/>
              <a:t>Column: Type of Vehicle</a:t>
            </a:r>
            <a:endParaRPr lang="en-US" b="1" dirty="0" smtClean="0"/>
          </a:p>
          <a:p>
            <a:r>
              <a:rPr lang="en-US" dirty="0"/>
              <a:t>Mean: 8.167919799498748</a:t>
            </a:r>
            <a:endParaRPr lang="en-US" b="0" dirty="0" smtClean="0"/>
          </a:p>
          <a:p>
            <a:r>
              <a:rPr lang="en-US" dirty="0"/>
              <a:t>Median: 9.0</a:t>
            </a:r>
            <a:endParaRPr lang="en-US" b="0" dirty="0" smtClean="0"/>
          </a:p>
          <a:p>
            <a:r>
              <a:rPr lang="en-US" dirty="0"/>
              <a:t>Mode: 9</a:t>
            </a:r>
            <a:endParaRPr lang="en-US" b="0" dirty="0" smtClean="0"/>
          </a:p>
          <a:p>
            <a:pPr>
              <a:buNone/>
            </a:pPr>
            <a:r>
              <a:rPr lang="en-US" b="0" dirty="0" smtClean="0"/>
              <a:t/>
            </a:r>
            <a:br>
              <a:rPr lang="en-US" b="0" dirty="0" smtClean="0"/>
            </a:br>
            <a:r>
              <a:rPr lang="en-US" b="1" dirty="0"/>
              <a:t>Column: Casualty </a:t>
            </a:r>
            <a:r>
              <a:rPr lang="en-US" b="1" dirty="0" err="1"/>
              <a:t>Veh</a:t>
            </a:r>
            <a:r>
              <a:rPr lang="en-US" b="1" dirty="0"/>
              <a:t> No</a:t>
            </a:r>
            <a:endParaRPr lang="en-US" b="1" dirty="0" smtClean="0"/>
          </a:p>
          <a:p>
            <a:r>
              <a:rPr lang="en-US" dirty="0"/>
              <a:t>Mean: 1.5042606516290726</a:t>
            </a:r>
            <a:endParaRPr lang="en-US" b="0" dirty="0" smtClean="0"/>
          </a:p>
          <a:p>
            <a:r>
              <a:rPr lang="en-US" dirty="0"/>
              <a:t>Median: 1.0</a:t>
            </a:r>
            <a:endParaRPr lang="en-US" b="0" dirty="0" smtClean="0"/>
          </a:p>
          <a:p>
            <a:r>
              <a:rPr lang="en-US" dirty="0"/>
              <a:t>Mode: 1</a:t>
            </a:r>
            <a:endParaRPr lang="en-US" b="0" dirty="0" smtClean="0"/>
          </a:p>
          <a:p>
            <a:pPr>
              <a:buNone/>
            </a:pPr>
            <a:r>
              <a:rPr lang="en-US" b="0" dirty="0" smtClean="0"/>
              <a:t/>
            </a:r>
            <a:br>
              <a:rPr lang="en-US" b="0" dirty="0" smtClean="0"/>
            </a:br>
            <a:r>
              <a:rPr lang="en-US" b="1" dirty="0"/>
              <a:t>Column: Casualty Class</a:t>
            </a:r>
            <a:endParaRPr lang="en-US" b="1" dirty="0" smtClean="0"/>
          </a:p>
          <a:p>
            <a:r>
              <a:rPr lang="en-US" dirty="0"/>
              <a:t>Mean: 1.5543859649122806</a:t>
            </a:r>
            <a:endParaRPr lang="en-US" b="0" dirty="0" smtClean="0"/>
          </a:p>
          <a:p>
            <a:r>
              <a:rPr lang="en-US" dirty="0"/>
              <a:t>Median: 1.0</a:t>
            </a:r>
            <a:endParaRPr lang="en-US" b="0" dirty="0" smtClean="0"/>
          </a:p>
          <a:p>
            <a:r>
              <a:rPr lang="en-US" dirty="0"/>
              <a:t>Mode: 1</a:t>
            </a:r>
            <a:endParaRPr lang="en-US" b="0" dirty="0" smtClean="0"/>
          </a:p>
          <a:p>
            <a:pPr>
              <a:buNone/>
            </a:pPr>
            <a:r>
              <a:rPr lang="en-US" b="0" dirty="0" smtClean="0"/>
              <a:t/>
            </a:r>
            <a:br>
              <a:rPr lang="en-US" b="0" dirty="0" smtClean="0"/>
            </a:br>
            <a:r>
              <a:rPr lang="en-US" b="1" dirty="0"/>
              <a:t>Column: Casualty Severity</a:t>
            </a:r>
            <a:endParaRPr lang="en-US" b="1" dirty="0" smtClean="0"/>
          </a:p>
          <a:p>
            <a:r>
              <a:rPr lang="en-US" dirty="0"/>
              <a:t>Mean: 2.818045112781955</a:t>
            </a:r>
            <a:endParaRPr lang="en-US" b="0" dirty="0" smtClean="0"/>
          </a:p>
          <a:p>
            <a:r>
              <a:rPr lang="en-US" dirty="0"/>
              <a:t>Median: 3.0</a:t>
            </a:r>
            <a:endParaRPr lang="en-US" b="0" dirty="0" smtClean="0"/>
          </a:p>
          <a:p>
            <a:r>
              <a:rPr lang="en-US" dirty="0"/>
              <a:t>Mode: 3</a:t>
            </a:r>
            <a:endParaRPr lang="en-US" b="0" dirty="0" smtClean="0"/>
          </a:p>
          <a:p>
            <a:pPr>
              <a:buNone/>
            </a:pPr>
            <a:r>
              <a:rPr lang="en-US" b="0" dirty="0" smtClean="0"/>
              <a:t/>
            </a:r>
            <a:br>
              <a:rPr lang="en-US" b="0" dirty="0" smtClean="0"/>
            </a:br>
            <a:r>
              <a:rPr lang="en-US" b="1" dirty="0"/>
              <a:t>Column: Sex of Casualty</a:t>
            </a:r>
            <a:endParaRPr lang="en-US" b="1" dirty="0" smtClean="0"/>
          </a:p>
          <a:p>
            <a:r>
              <a:rPr lang="en-US" dirty="0"/>
              <a:t>Mean: 1.4105263157894736</a:t>
            </a:r>
            <a:endParaRPr lang="en-US" b="0" dirty="0" smtClean="0"/>
          </a:p>
          <a:p>
            <a:r>
              <a:rPr lang="en-US" dirty="0"/>
              <a:t>Median: 1.0</a:t>
            </a:r>
            <a:endParaRPr lang="en-US" b="0" dirty="0" smtClean="0"/>
          </a:p>
          <a:p>
            <a:r>
              <a:rPr lang="en-US" dirty="0"/>
              <a:t>Mode: 1</a:t>
            </a:r>
            <a:endParaRPr lang="en-US" b="0" dirty="0" smtClean="0"/>
          </a:p>
          <a:p>
            <a:pPr>
              <a:buNone/>
            </a:pPr>
            <a:r>
              <a:rPr lang="en-US" b="0" dirty="0" smtClean="0"/>
              <a:t/>
            </a:r>
            <a:br>
              <a:rPr lang="en-US" b="0" dirty="0" smtClean="0"/>
            </a:br>
            <a:r>
              <a:rPr lang="en-US" b="1" dirty="0"/>
              <a:t>Column: Age of Casualty</a:t>
            </a:r>
            <a:endParaRPr lang="en-US" b="1" dirty="0" smtClean="0"/>
          </a:p>
          <a:p>
            <a:r>
              <a:rPr lang="en-US" dirty="0"/>
              <a:t>Mean: 36.99398496240602</a:t>
            </a:r>
            <a:endParaRPr lang="en-US" b="0" dirty="0" smtClean="0"/>
          </a:p>
          <a:p>
            <a:r>
              <a:rPr lang="en-US" dirty="0"/>
              <a:t>Median: 35.0</a:t>
            </a:r>
            <a:endParaRPr lang="en-US" b="0" dirty="0" smtClean="0"/>
          </a:p>
          <a:p>
            <a:r>
              <a:rPr lang="en-US" dirty="0"/>
              <a:t>Mode: 23</a:t>
            </a:r>
            <a:endParaRPr lang="en-US" b="0" dirty="0" smtClean="0"/>
          </a:p>
          <a:p>
            <a:pPr>
              <a:buNone/>
            </a:pPr>
            <a:r>
              <a:rPr lang="en-US" b="0" dirty="0" smtClean="0"/>
              <a:t/>
            </a:r>
            <a:br>
              <a:rPr lang="en-US" b="0" dirty="0" smtClean="0"/>
            </a:br>
            <a:r>
              <a:rPr lang="en-US" b="0" dirty="0" smtClean="0"/>
              <a:t/>
            </a:r>
            <a:br>
              <a:rPr lang="en-US" b="0" dirty="0" smtClean="0"/>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1143000"/>
          </a:xfrm>
        </p:spPr>
        <p:txBody>
          <a:bodyPr>
            <a:normAutofit fontScale="90000"/>
          </a:bodyPr>
          <a:lstStyle/>
          <a:p>
            <a:r>
              <a:rPr lang="en-US" dirty="0" smtClean="0"/>
              <a:t>Frequency and Data Distributions using Histogram For Data Set 1</a:t>
            </a:r>
            <a:r>
              <a:rPr lang="en-US" b="1" dirty="0" smtClean="0"/>
              <a:t/>
            </a:r>
            <a:br>
              <a:rPr lang="en-US" b="1" dirty="0" smtClean="0"/>
            </a:br>
            <a:endParaRPr lang="en-US" dirty="0"/>
          </a:p>
        </p:txBody>
      </p:sp>
      <p:pic>
        <p:nvPicPr>
          <p:cNvPr id="4" name="Content Placeholder 3" descr="Screenshot (466).png"/>
          <p:cNvPicPr>
            <a:picLocks noGrp="1" noChangeAspect="1"/>
          </p:cNvPicPr>
          <p:nvPr>
            <p:ph idx="1"/>
          </p:nvPr>
        </p:nvPicPr>
        <p:blipFill>
          <a:blip r:embed="rId2"/>
          <a:stretch>
            <a:fillRect/>
          </a:stretch>
        </p:blipFill>
        <p:spPr>
          <a:xfrm>
            <a:off x="304800" y="1600200"/>
            <a:ext cx="8382000" cy="4525963"/>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fontScale="90000"/>
          </a:bodyPr>
          <a:lstStyle/>
          <a:p>
            <a:r>
              <a:rPr lang="en-US" dirty="0"/>
              <a:t>Correlation </a:t>
            </a:r>
            <a:r>
              <a:rPr lang="en-US" dirty="0" smtClean="0"/>
              <a:t>heat map </a:t>
            </a:r>
            <a:r>
              <a:rPr lang="en-US" dirty="0"/>
              <a:t>for numeric columns</a:t>
            </a:r>
            <a:r>
              <a:rPr lang="en-US" dirty="0" smtClean="0"/>
              <a:t/>
            </a:r>
            <a:br>
              <a:rPr lang="en-US" dirty="0" smtClean="0"/>
            </a:br>
            <a:endParaRPr lang="en-US" dirty="0"/>
          </a:p>
        </p:txBody>
      </p:sp>
      <p:pic>
        <p:nvPicPr>
          <p:cNvPr id="5" name="Content Placeholder 4" descr="Screenshot (477).png"/>
          <p:cNvPicPr>
            <a:picLocks noGrp="1" noChangeAspect="1"/>
          </p:cNvPicPr>
          <p:nvPr>
            <p:ph idx="1"/>
          </p:nvPr>
        </p:nvPicPr>
        <p:blipFill>
          <a:blip r:embed="rId2"/>
          <a:stretch>
            <a:fillRect/>
          </a:stretch>
        </p:blipFill>
        <p:spPr>
          <a:xfrm>
            <a:off x="90917" y="1524000"/>
            <a:ext cx="9053083" cy="5105400"/>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Outliers in Data Set 1</a:t>
            </a:r>
            <a:endParaRPr lang="en-US" dirty="0"/>
          </a:p>
        </p:txBody>
      </p:sp>
      <p:pic>
        <p:nvPicPr>
          <p:cNvPr id="4" name="Content Placeholder 3" descr="Screenshot (479).png"/>
          <p:cNvPicPr>
            <a:picLocks noGrp="1" noChangeAspect="1"/>
          </p:cNvPicPr>
          <p:nvPr>
            <p:ph idx="1"/>
          </p:nvPr>
        </p:nvPicPr>
        <p:blipFill>
          <a:blip r:embed="rId2"/>
          <a:stretch>
            <a:fillRect/>
          </a:stretch>
        </p:blipFill>
        <p:spPr>
          <a:xfrm>
            <a:off x="457200" y="1600200"/>
            <a:ext cx="8229600" cy="4191000"/>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990600"/>
            <a:ext cx="3200400" cy="1143000"/>
          </a:xfrm>
        </p:spPr>
        <p:txBody>
          <a:bodyPr>
            <a:normAutofit fontScale="90000"/>
          </a:bodyPr>
          <a:lstStyle/>
          <a:p>
            <a:r>
              <a:rPr lang="en-US" dirty="0" smtClean="0"/>
              <a:t>2nd Dataset </a:t>
            </a:r>
            <a:br>
              <a:rPr lang="en-US" dirty="0" smtClean="0"/>
            </a:br>
            <a:r>
              <a:rPr lang="en-US" dirty="0" smtClean="0"/>
              <a:t/>
            </a:r>
            <a:br>
              <a:rPr lang="en-US" dirty="0" smtClean="0"/>
            </a:br>
            <a:endParaRPr lang="en-US" dirty="0"/>
          </a:p>
        </p:txBody>
      </p:sp>
      <p:pic>
        <p:nvPicPr>
          <p:cNvPr id="4" name="Content Placeholder 3" descr="Screenshot (484).png"/>
          <p:cNvPicPr>
            <a:picLocks noGrp="1" noChangeAspect="1"/>
          </p:cNvPicPr>
          <p:nvPr>
            <p:ph idx="1"/>
          </p:nvPr>
        </p:nvPicPr>
        <p:blipFill>
          <a:blip r:embed="rId2"/>
          <a:stretch>
            <a:fillRect/>
          </a:stretch>
        </p:blipFill>
        <p:spPr>
          <a:xfrm>
            <a:off x="228600" y="1371600"/>
            <a:ext cx="8915400" cy="3630010"/>
          </a:xfrm>
        </p:spPr>
      </p:pic>
      <p:sp>
        <p:nvSpPr>
          <p:cNvPr id="5" name="TextBox 4"/>
          <p:cNvSpPr txBox="1"/>
          <p:nvPr/>
        </p:nvSpPr>
        <p:spPr>
          <a:xfrm>
            <a:off x="457200" y="4876800"/>
            <a:ext cx="8686800" cy="1384995"/>
          </a:xfrm>
          <a:prstGeom prst="rect">
            <a:avLst/>
          </a:prstGeom>
          <a:noFill/>
        </p:spPr>
        <p:txBody>
          <a:bodyPr wrap="square" rtlCol="0">
            <a:spAutoFit/>
          </a:bodyPr>
          <a:lstStyle/>
          <a:p>
            <a:endParaRPr lang="en-US" b="1" dirty="0" smtClean="0"/>
          </a:p>
          <a:p>
            <a:pPr>
              <a:buFont typeface="Arial" pitchFamily="34" charset="0"/>
              <a:buChar char="•"/>
            </a:pPr>
            <a:r>
              <a:rPr lang="en-US" sz="2400" dirty="0" smtClean="0"/>
              <a:t>    Check Weather Data Set is imbalanced</a:t>
            </a:r>
            <a:r>
              <a:rPr lang="en-US" sz="2400" b="1" dirty="0" smtClean="0"/>
              <a:t> :</a:t>
            </a:r>
          </a:p>
          <a:p>
            <a:r>
              <a:rPr lang="en-US" sz="2400" b="1" dirty="0" smtClean="0"/>
              <a:t>      </a:t>
            </a:r>
            <a:r>
              <a:rPr lang="en-US" sz="2000" dirty="0" smtClean="0"/>
              <a:t>Imbalanced Columns: ['Accident Date', '1st Road Class &amp; No', 'Local Authority']</a:t>
            </a:r>
            <a:endParaRPr lang="en-US" sz="2000" b="1"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Mean , Median or Mode for Dataset 2:</a:t>
            </a:r>
            <a:r>
              <a:rPr lang="en-US" b="1" dirty="0" smtClean="0"/>
              <a:t/>
            </a:r>
            <a:br>
              <a:rPr lang="en-US" b="1" dirty="0" smtClean="0"/>
            </a:br>
            <a:endParaRPr lang="en-US" dirty="0"/>
          </a:p>
        </p:txBody>
      </p:sp>
      <p:sp>
        <p:nvSpPr>
          <p:cNvPr id="3" name="Content Placeholder 2"/>
          <p:cNvSpPr>
            <a:spLocks noGrp="1"/>
          </p:cNvSpPr>
          <p:nvPr>
            <p:ph idx="1"/>
          </p:nvPr>
        </p:nvSpPr>
        <p:spPr>
          <a:xfrm>
            <a:off x="0" y="990600"/>
            <a:ext cx="9144000" cy="5867400"/>
          </a:xfrm>
        </p:spPr>
        <p:txBody>
          <a:bodyPr numCol="3">
            <a:normAutofit fontScale="47500" lnSpcReduction="20000"/>
          </a:bodyPr>
          <a:lstStyle/>
          <a:p>
            <a:pPr>
              <a:buNone/>
            </a:pPr>
            <a:r>
              <a:rPr lang="en-US" dirty="0" smtClean="0"/>
              <a:t>        </a:t>
            </a:r>
            <a:r>
              <a:rPr lang="en-US" b="1" dirty="0" smtClean="0"/>
              <a:t>Column</a:t>
            </a:r>
            <a:r>
              <a:rPr lang="en-US" b="1" dirty="0"/>
              <a:t>: Grid Ref: Easting</a:t>
            </a:r>
            <a:endParaRPr lang="en-US" b="1" dirty="0" smtClean="0"/>
          </a:p>
          <a:p>
            <a:r>
              <a:rPr lang="en-US" dirty="0"/>
              <a:t>Mean: 430273.6046145779</a:t>
            </a:r>
            <a:endParaRPr lang="en-US" b="0" dirty="0" smtClean="0"/>
          </a:p>
          <a:p>
            <a:r>
              <a:rPr lang="en-US" dirty="0"/>
              <a:t>Median: 430096.0</a:t>
            </a:r>
            <a:endParaRPr lang="en-US" b="0" dirty="0" smtClean="0"/>
          </a:p>
          <a:p>
            <a:r>
              <a:rPr lang="en-US" dirty="0"/>
              <a:t>Mode: 430846</a:t>
            </a:r>
            <a:endParaRPr lang="en-US" b="0" dirty="0" smtClean="0"/>
          </a:p>
          <a:p>
            <a:pPr>
              <a:buNone/>
            </a:pPr>
            <a:r>
              <a:rPr lang="en-US" b="0" dirty="0" smtClean="0"/>
              <a:t/>
            </a:r>
            <a:br>
              <a:rPr lang="en-US" b="0" dirty="0" smtClean="0"/>
            </a:br>
            <a:r>
              <a:rPr lang="en-US" b="1" dirty="0"/>
              <a:t>Column: Grid Ref: Northing</a:t>
            </a:r>
            <a:endParaRPr lang="en-US" b="1" dirty="0" smtClean="0"/>
          </a:p>
          <a:p>
            <a:r>
              <a:rPr lang="en-US" dirty="0"/>
              <a:t>Mean: 434036.86156266386</a:t>
            </a:r>
            <a:endParaRPr lang="en-US" b="0" dirty="0" smtClean="0"/>
          </a:p>
          <a:p>
            <a:r>
              <a:rPr lang="en-US" dirty="0"/>
              <a:t>Median: 433982.0</a:t>
            </a:r>
            <a:endParaRPr lang="en-US" b="0" dirty="0" smtClean="0"/>
          </a:p>
          <a:p>
            <a:r>
              <a:rPr lang="en-US" dirty="0"/>
              <a:t>Mode: 434032</a:t>
            </a:r>
            <a:endParaRPr lang="en-US" b="0" dirty="0" smtClean="0"/>
          </a:p>
          <a:p>
            <a:pPr>
              <a:buNone/>
            </a:pPr>
            <a:r>
              <a:rPr lang="en-US" b="0" dirty="0" smtClean="0"/>
              <a:t/>
            </a:r>
            <a:br>
              <a:rPr lang="en-US" b="0" dirty="0" smtClean="0"/>
            </a:br>
            <a:r>
              <a:rPr lang="en-US" b="1" dirty="0"/>
              <a:t>Column: Number of Vehicles</a:t>
            </a:r>
            <a:endParaRPr lang="en-US" b="1" dirty="0" smtClean="0"/>
          </a:p>
          <a:p>
            <a:r>
              <a:rPr lang="en-US" dirty="0"/>
              <a:t>Mean: 1.9690613529103305</a:t>
            </a:r>
            <a:endParaRPr lang="en-US" b="0" dirty="0" smtClean="0"/>
          </a:p>
          <a:p>
            <a:r>
              <a:rPr lang="en-US" dirty="0"/>
              <a:t>Median: 2.0</a:t>
            </a:r>
            <a:endParaRPr lang="en-US" b="0" dirty="0" smtClean="0"/>
          </a:p>
          <a:p>
            <a:r>
              <a:rPr lang="en-US" dirty="0"/>
              <a:t>Mode: 2</a:t>
            </a:r>
            <a:endParaRPr lang="en-US" b="0" dirty="0" smtClean="0"/>
          </a:p>
          <a:p>
            <a:pPr>
              <a:buNone/>
            </a:pPr>
            <a:r>
              <a:rPr lang="en-US" b="0" dirty="0" smtClean="0"/>
              <a:t/>
            </a:r>
            <a:br>
              <a:rPr lang="en-US" b="0" dirty="0" smtClean="0"/>
            </a:br>
            <a:r>
              <a:rPr lang="en-US" b="1" dirty="0"/>
              <a:t>Column: Time (24hr)</a:t>
            </a:r>
            <a:endParaRPr lang="en-US" b="1" dirty="0" smtClean="0"/>
          </a:p>
          <a:p>
            <a:r>
              <a:rPr lang="en-US" dirty="0"/>
              <a:t>Mean: 1385.4950183534347</a:t>
            </a:r>
            <a:endParaRPr lang="en-US" b="0" dirty="0" smtClean="0"/>
          </a:p>
          <a:p>
            <a:r>
              <a:rPr lang="en-US" dirty="0"/>
              <a:t>Median: 1500.0</a:t>
            </a:r>
            <a:endParaRPr lang="en-US" b="0" dirty="0" smtClean="0"/>
          </a:p>
          <a:p>
            <a:r>
              <a:rPr lang="en-US" dirty="0"/>
              <a:t>Mode: 1630</a:t>
            </a:r>
            <a:endParaRPr lang="en-US" b="0" dirty="0" smtClean="0"/>
          </a:p>
          <a:p>
            <a:pPr>
              <a:buNone/>
            </a:pPr>
            <a:r>
              <a:rPr lang="en-US" b="0" dirty="0" smtClean="0"/>
              <a:t/>
            </a:r>
            <a:br>
              <a:rPr lang="en-US" b="0" dirty="0" smtClean="0"/>
            </a:br>
            <a:r>
              <a:rPr lang="en-US" b="1" dirty="0"/>
              <a:t>Column: 1st Road Class</a:t>
            </a:r>
            <a:endParaRPr lang="en-US" b="1" dirty="0" smtClean="0"/>
          </a:p>
          <a:p>
            <a:r>
              <a:rPr lang="en-US" dirty="0"/>
              <a:t>Mean: 4.399580492920818</a:t>
            </a:r>
            <a:endParaRPr lang="en-US" b="0" dirty="0" smtClean="0"/>
          </a:p>
          <a:p>
            <a:r>
              <a:rPr lang="en-US" dirty="0"/>
              <a:t>Median: 6.0</a:t>
            </a:r>
            <a:endParaRPr lang="en-US" b="0" dirty="0" smtClean="0"/>
          </a:p>
          <a:p>
            <a:r>
              <a:rPr lang="en-US" dirty="0"/>
              <a:t>Mode: 6</a:t>
            </a:r>
            <a:endParaRPr lang="en-US" b="0" dirty="0" smtClean="0"/>
          </a:p>
          <a:p>
            <a:pPr>
              <a:buNone/>
            </a:pPr>
            <a:endParaRPr lang="en-US" b="0" dirty="0" smtClean="0"/>
          </a:p>
          <a:p>
            <a:pPr>
              <a:buNone/>
            </a:pPr>
            <a:r>
              <a:rPr lang="en-US" b="0" dirty="0" smtClean="0"/>
              <a:t/>
            </a:r>
            <a:br>
              <a:rPr lang="en-US" b="0" dirty="0" smtClean="0"/>
            </a:br>
            <a:r>
              <a:rPr lang="en-US" b="1" dirty="0"/>
              <a:t>Column: Road Surface</a:t>
            </a:r>
            <a:endParaRPr lang="en-US" b="1" dirty="0" smtClean="0"/>
          </a:p>
          <a:p>
            <a:r>
              <a:rPr lang="en-US" dirty="0"/>
              <a:t>Mean: 1.3219716832721553</a:t>
            </a:r>
            <a:endParaRPr lang="en-US" b="0" dirty="0" smtClean="0"/>
          </a:p>
          <a:p>
            <a:r>
              <a:rPr lang="en-US" dirty="0"/>
              <a:t>Median: 1.0</a:t>
            </a:r>
            <a:endParaRPr lang="en-US" b="0" dirty="0" smtClean="0"/>
          </a:p>
          <a:p>
            <a:r>
              <a:rPr lang="en-US" dirty="0"/>
              <a:t>Mode: 1</a:t>
            </a:r>
            <a:endParaRPr lang="en-US" b="0" dirty="0" smtClean="0"/>
          </a:p>
          <a:p>
            <a:pPr>
              <a:buNone/>
            </a:pPr>
            <a:r>
              <a:rPr lang="en-US" b="0" dirty="0" smtClean="0"/>
              <a:t/>
            </a:r>
            <a:br>
              <a:rPr lang="en-US" b="0" dirty="0" smtClean="0"/>
            </a:br>
            <a:r>
              <a:rPr lang="en-US" b="1" dirty="0"/>
              <a:t>Column: Lighting Conditions</a:t>
            </a:r>
            <a:endParaRPr lang="en-US" b="1" dirty="0" smtClean="0"/>
          </a:p>
          <a:p>
            <a:r>
              <a:rPr lang="en-US" dirty="0"/>
              <a:t>Mean: 1.911903513371788</a:t>
            </a:r>
            <a:endParaRPr lang="en-US" b="0" dirty="0" smtClean="0"/>
          </a:p>
          <a:p>
            <a:r>
              <a:rPr lang="en-US" dirty="0"/>
              <a:t>Median: 1.0</a:t>
            </a:r>
            <a:endParaRPr lang="en-US" b="0" dirty="0" smtClean="0"/>
          </a:p>
          <a:p>
            <a:r>
              <a:rPr lang="en-US" dirty="0"/>
              <a:t>Mode: 1</a:t>
            </a:r>
            <a:endParaRPr lang="en-US" b="0" dirty="0" smtClean="0"/>
          </a:p>
          <a:p>
            <a:pPr>
              <a:buNone/>
            </a:pPr>
            <a:r>
              <a:rPr lang="en-US" b="0" dirty="0" smtClean="0"/>
              <a:t/>
            </a:r>
            <a:br>
              <a:rPr lang="en-US" b="0" dirty="0" smtClean="0"/>
            </a:br>
            <a:r>
              <a:rPr lang="en-US" b="1" dirty="0"/>
              <a:t>Column: Weather Conditions</a:t>
            </a:r>
            <a:endParaRPr lang="en-US" b="1" dirty="0" smtClean="0"/>
          </a:p>
          <a:p>
            <a:r>
              <a:rPr lang="en-US" dirty="0"/>
              <a:t>Mean: 1.241740954378605</a:t>
            </a:r>
            <a:endParaRPr lang="en-US" b="0" dirty="0" smtClean="0"/>
          </a:p>
          <a:p>
            <a:r>
              <a:rPr lang="en-US" dirty="0"/>
              <a:t>Median: 1.0</a:t>
            </a:r>
            <a:endParaRPr lang="en-US" b="0" dirty="0" smtClean="0"/>
          </a:p>
          <a:p>
            <a:r>
              <a:rPr lang="en-US" dirty="0"/>
              <a:t>Mode: 1</a:t>
            </a:r>
            <a:endParaRPr lang="en-US" b="0" dirty="0" smtClean="0"/>
          </a:p>
          <a:p>
            <a:pPr>
              <a:buNone/>
            </a:pPr>
            <a:r>
              <a:rPr lang="en-US" b="1" dirty="0" smtClean="0"/>
              <a:t/>
            </a:r>
            <a:br>
              <a:rPr lang="en-US" b="1" dirty="0" smtClean="0"/>
            </a:br>
            <a:r>
              <a:rPr lang="en-US" b="1" dirty="0"/>
              <a:t>Column: Vehicle Number</a:t>
            </a:r>
            <a:endParaRPr lang="en-US" b="1" dirty="0" smtClean="0"/>
          </a:p>
          <a:p>
            <a:r>
              <a:rPr lang="en-US" dirty="0"/>
              <a:t>Mean: 1.5579444153120083</a:t>
            </a:r>
            <a:endParaRPr lang="en-US" b="0" dirty="0" smtClean="0"/>
          </a:p>
          <a:p>
            <a:r>
              <a:rPr lang="en-US" dirty="0"/>
              <a:t>Median: 2.0</a:t>
            </a:r>
            <a:endParaRPr lang="en-US" b="0" dirty="0" smtClean="0"/>
          </a:p>
          <a:p>
            <a:r>
              <a:rPr lang="en-US" dirty="0"/>
              <a:t>Mode: 1</a:t>
            </a:r>
            <a:endParaRPr lang="en-US" b="0" dirty="0" smtClean="0"/>
          </a:p>
          <a:p>
            <a:pPr>
              <a:buNone/>
            </a:pPr>
            <a:r>
              <a:rPr lang="en-US" b="0" dirty="0" smtClean="0"/>
              <a:t/>
            </a:r>
            <a:br>
              <a:rPr lang="en-US" b="0" dirty="0" smtClean="0"/>
            </a:br>
            <a:r>
              <a:rPr lang="en-US" b="1" dirty="0"/>
              <a:t>Column: Type of Vehicle</a:t>
            </a:r>
            <a:endParaRPr lang="en-US" b="1" dirty="0" smtClean="0"/>
          </a:p>
          <a:p>
            <a:r>
              <a:rPr lang="en-US" dirty="0"/>
              <a:t>Mean: 8.344520188778185</a:t>
            </a:r>
            <a:endParaRPr lang="en-US" b="0" dirty="0" smtClean="0"/>
          </a:p>
          <a:p>
            <a:r>
              <a:rPr lang="en-US" dirty="0"/>
              <a:t>Median: 9.0</a:t>
            </a:r>
            <a:endParaRPr lang="en-US" b="0" dirty="0" smtClean="0"/>
          </a:p>
          <a:p>
            <a:r>
              <a:rPr lang="en-US" dirty="0"/>
              <a:t>Mode: 9</a:t>
            </a:r>
            <a:endParaRPr lang="en-US" b="0" dirty="0" smtClean="0"/>
          </a:p>
          <a:p>
            <a:pPr>
              <a:buNone/>
            </a:pPr>
            <a:endParaRPr lang="en-US" b="0" dirty="0" smtClean="0"/>
          </a:p>
          <a:p>
            <a:pPr>
              <a:buNone/>
            </a:pPr>
            <a:r>
              <a:rPr lang="en-US" b="0" dirty="0" smtClean="0"/>
              <a:t/>
            </a:r>
            <a:br>
              <a:rPr lang="en-US" b="0" dirty="0" smtClean="0"/>
            </a:br>
            <a:r>
              <a:rPr lang="en-US" b="1" dirty="0"/>
              <a:t>Column: Casualty Class</a:t>
            </a:r>
            <a:endParaRPr lang="en-US" b="1" dirty="0" smtClean="0"/>
          </a:p>
          <a:p>
            <a:r>
              <a:rPr lang="en-US" dirty="0"/>
              <a:t>Mean: 1.5673833245936024</a:t>
            </a:r>
            <a:endParaRPr lang="en-US" b="0" dirty="0" smtClean="0"/>
          </a:p>
          <a:p>
            <a:r>
              <a:rPr lang="en-US" dirty="0"/>
              <a:t>Median: 1.0</a:t>
            </a:r>
            <a:endParaRPr lang="en-US" b="0" dirty="0" smtClean="0"/>
          </a:p>
          <a:p>
            <a:r>
              <a:rPr lang="en-US" dirty="0"/>
              <a:t>Mode: 1</a:t>
            </a:r>
            <a:endParaRPr lang="en-US" b="0" dirty="0" smtClean="0"/>
          </a:p>
          <a:p>
            <a:pPr>
              <a:buNone/>
            </a:pPr>
            <a:r>
              <a:rPr lang="en-US" b="0" dirty="0" smtClean="0"/>
              <a:t/>
            </a:r>
            <a:br>
              <a:rPr lang="en-US" b="0" dirty="0" smtClean="0"/>
            </a:br>
            <a:r>
              <a:rPr lang="en-US" b="1" dirty="0"/>
              <a:t>Column: Casualty Severity</a:t>
            </a:r>
            <a:endParaRPr lang="en-US" b="1" dirty="0" smtClean="0"/>
          </a:p>
          <a:p>
            <a:r>
              <a:rPr lang="en-US" dirty="0"/>
              <a:t>Mean: 2.8017829050865233</a:t>
            </a:r>
            <a:endParaRPr lang="en-US" b="0" dirty="0" smtClean="0"/>
          </a:p>
          <a:p>
            <a:r>
              <a:rPr lang="en-US" dirty="0"/>
              <a:t>Median: 3.0</a:t>
            </a:r>
            <a:endParaRPr lang="en-US" b="0" dirty="0" smtClean="0"/>
          </a:p>
          <a:p>
            <a:r>
              <a:rPr lang="en-US" dirty="0"/>
              <a:t>Mode: 3</a:t>
            </a:r>
            <a:endParaRPr lang="en-US" b="0" dirty="0" smtClean="0"/>
          </a:p>
          <a:p>
            <a:pPr>
              <a:buNone/>
            </a:pPr>
            <a:r>
              <a:rPr lang="en-US" b="0" dirty="0" smtClean="0"/>
              <a:t/>
            </a:r>
            <a:br>
              <a:rPr lang="en-US" b="0" dirty="0" smtClean="0"/>
            </a:br>
            <a:r>
              <a:rPr lang="en-US" b="1" dirty="0"/>
              <a:t>Column: Sex of Casualty</a:t>
            </a:r>
            <a:endParaRPr lang="en-US" b="1" dirty="0" smtClean="0"/>
          </a:p>
          <a:p>
            <a:r>
              <a:rPr lang="en-US" dirty="0"/>
              <a:t>Mean: 1.3974829575249081</a:t>
            </a:r>
            <a:endParaRPr lang="en-US" b="0" dirty="0" smtClean="0"/>
          </a:p>
          <a:p>
            <a:r>
              <a:rPr lang="en-US" dirty="0"/>
              <a:t>Median: 1.0</a:t>
            </a:r>
            <a:endParaRPr lang="en-US" b="0" dirty="0" smtClean="0"/>
          </a:p>
          <a:p>
            <a:r>
              <a:rPr lang="en-US" dirty="0"/>
              <a:t>Mode: 1</a:t>
            </a:r>
            <a:endParaRPr lang="en-US" b="0" dirty="0" smtClean="0"/>
          </a:p>
          <a:p>
            <a:pPr>
              <a:buNone/>
            </a:pPr>
            <a:r>
              <a:rPr lang="en-US" b="0" dirty="0" smtClean="0"/>
              <a:t/>
            </a:r>
            <a:br>
              <a:rPr lang="en-US" b="0" dirty="0" smtClean="0"/>
            </a:br>
            <a:r>
              <a:rPr lang="en-US" b="1" dirty="0"/>
              <a:t>Column: Age of Casualty</a:t>
            </a:r>
            <a:endParaRPr lang="en-US" b="1" dirty="0" smtClean="0"/>
          </a:p>
          <a:p>
            <a:r>
              <a:rPr lang="en-US" dirty="0"/>
              <a:t>Mean: 35.79811221814368</a:t>
            </a:r>
            <a:endParaRPr lang="en-US" b="0" dirty="0" smtClean="0"/>
          </a:p>
          <a:p>
            <a:r>
              <a:rPr lang="en-US" dirty="0"/>
              <a:t>Median: 32.0</a:t>
            </a:r>
            <a:endParaRPr lang="en-US" b="0" dirty="0" smtClean="0"/>
          </a:p>
          <a:p>
            <a:r>
              <a:rPr lang="en-US" dirty="0"/>
              <a:t>Mode: 27</a:t>
            </a:r>
            <a:endParaRPr lang="en-US" b="0" dirty="0" smtClean="0"/>
          </a:p>
          <a:p>
            <a:r>
              <a:rPr lang="en-US" b="0" dirty="0" smtClean="0"/>
              <a:t/>
            </a:r>
            <a:br>
              <a:rPr lang="en-US" b="0" dirty="0" smtClean="0"/>
            </a:b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US" dirty="0" smtClean="0"/>
              <a:t/>
            </a:r>
            <a:br>
              <a:rPr lang="en-US" dirty="0" smtClean="0"/>
            </a:br>
            <a:r>
              <a:rPr lang="en-US" dirty="0" smtClean="0"/>
              <a:t>Frequency and Data Distributions using Histogram For Data Set 2</a:t>
            </a:r>
            <a:r>
              <a:rPr lang="en-US" b="1" dirty="0" smtClean="0"/>
              <a:t/>
            </a:r>
            <a:br>
              <a:rPr lang="en-US" b="1" dirty="0" smtClean="0"/>
            </a:br>
            <a:endParaRPr lang="en-US" dirty="0"/>
          </a:p>
        </p:txBody>
      </p:sp>
      <p:pic>
        <p:nvPicPr>
          <p:cNvPr id="4" name="Content Placeholder 3" descr="Screenshot (470).png"/>
          <p:cNvPicPr>
            <a:picLocks noGrp="1" noChangeAspect="1"/>
          </p:cNvPicPr>
          <p:nvPr>
            <p:ph idx="1"/>
          </p:nvPr>
        </p:nvPicPr>
        <p:blipFill>
          <a:blip r:embed="rId2"/>
          <a:stretch>
            <a:fillRect/>
          </a:stretch>
        </p:blipFill>
        <p:spPr>
          <a:xfrm>
            <a:off x="381000" y="1828800"/>
            <a:ext cx="8458200" cy="4876800"/>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r>
              <a:rPr lang="en-US" dirty="0" smtClean="0"/>
              <a:t>Correlation heat map for numeric columns</a:t>
            </a:r>
            <a:br>
              <a:rPr lang="en-US" dirty="0" smtClean="0"/>
            </a:br>
            <a:endParaRPr lang="en-US" dirty="0"/>
          </a:p>
        </p:txBody>
      </p:sp>
      <p:pic>
        <p:nvPicPr>
          <p:cNvPr id="6" name="Content Placeholder 5" descr="Screenshot (486).png"/>
          <p:cNvPicPr>
            <a:picLocks noGrp="1" noChangeAspect="1"/>
          </p:cNvPicPr>
          <p:nvPr>
            <p:ph idx="1"/>
          </p:nvPr>
        </p:nvPicPr>
        <p:blipFill>
          <a:blip r:embed="rId2"/>
          <a:stretch>
            <a:fillRect/>
          </a:stretch>
        </p:blipFill>
        <p:spPr>
          <a:xfrm>
            <a:off x="609600" y="1676400"/>
            <a:ext cx="8077199" cy="4572000"/>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Outliers for Data Set 2</a:t>
            </a:r>
            <a:endParaRPr lang="en-US" dirty="0"/>
          </a:p>
        </p:txBody>
      </p:sp>
      <p:pic>
        <p:nvPicPr>
          <p:cNvPr id="4" name="Content Placeholder 3" descr="Screenshot (489).png"/>
          <p:cNvPicPr>
            <a:picLocks noGrp="1" noChangeAspect="1"/>
          </p:cNvPicPr>
          <p:nvPr>
            <p:ph idx="1"/>
          </p:nvPr>
        </p:nvPicPr>
        <p:blipFill>
          <a:blip r:embed="rId2"/>
          <a:stretch>
            <a:fillRect/>
          </a:stretch>
        </p:blipFill>
        <p:spPr>
          <a:xfrm>
            <a:off x="457200" y="1524000"/>
            <a:ext cx="8229600" cy="4419600"/>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3200400" cy="1143000"/>
          </a:xfrm>
        </p:spPr>
        <p:txBody>
          <a:bodyPr>
            <a:normAutofit fontScale="90000"/>
          </a:bodyPr>
          <a:lstStyle/>
          <a:p>
            <a:r>
              <a:rPr lang="en-US" dirty="0" smtClean="0"/>
              <a:t>3rd Dataset </a:t>
            </a:r>
            <a:br>
              <a:rPr lang="en-US" dirty="0" smtClean="0"/>
            </a:br>
            <a:r>
              <a:rPr lang="en-US" dirty="0" smtClean="0"/>
              <a:t/>
            </a:r>
            <a:br>
              <a:rPr lang="en-US" dirty="0" smtClean="0"/>
            </a:br>
            <a:endParaRPr lang="en-US" dirty="0"/>
          </a:p>
        </p:txBody>
      </p:sp>
      <p:pic>
        <p:nvPicPr>
          <p:cNvPr id="4" name="Content Placeholder 3" descr="Screenshot (488).png"/>
          <p:cNvPicPr>
            <a:picLocks noGrp="1" noChangeAspect="1"/>
          </p:cNvPicPr>
          <p:nvPr>
            <p:ph idx="1"/>
          </p:nvPr>
        </p:nvPicPr>
        <p:blipFill>
          <a:blip r:embed="rId2"/>
          <a:stretch>
            <a:fillRect/>
          </a:stretch>
        </p:blipFill>
        <p:spPr>
          <a:xfrm>
            <a:off x="533400" y="1371600"/>
            <a:ext cx="8229600" cy="3048000"/>
          </a:xfrm>
        </p:spPr>
      </p:pic>
      <p:sp>
        <p:nvSpPr>
          <p:cNvPr id="6" name="TextBox 5"/>
          <p:cNvSpPr txBox="1"/>
          <p:nvPr/>
        </p:nvSpPr>
        <p:spPr>
          <a:xfrm>
            <a:off x="762000" y="4953000"/>
            <a:ext cx="7620000" cy="461665"/>
          </a:xfrm>
          <a:prstGeom prst="rect">
            <a:avLst/>
          </a:prstGeom>
          <a:noFill/>
        </p:spPr>
        <p:txBody>
          <a:bodyPr wrap="square" rtlCol="0">
            <a:spAutoFit/>
          </a:bodyPr>
          <a:lstStyle/>
          <a:p>
            <a:r>
              <a:rPr lang="en-US" sz="2400" dirty="0" smtClean="0"/>
              <a:t>Check Weather Data Set is imbalanced</a:t>
            </a:r>
            <a:r>
              <a:rPr lang="en-US" sz="2400" b="1" dirty="0" smtClean="0"/>
              <a:t> :</a:t>
            </a:r>
            <a:r>
              <a:rPr lang="en-US" sz="2400" dirty="0" smtClean="0"/>
              <a:t> </a:t>
            </a:r>
            <a:r>
              <a:rPr lang="en-US" sz="2000" dirty="0" smtClean="0"/>
              <a:t>Imbalanced Columns:[]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1143000"/>
          </a:xfrm>
        </p:spPr>
        <p:txBody>
          <a:bodyPr>
            <a:normAutofit fontScale="90000"/>
          </a:bodyPr>
          <a:lstStyle/>
          <a:p>
            <a:r>
              <a:rPr lang="en-US" dirty="0" smtClean="0"/>
              <a:t>Mean , Median or Mode for Dataset 3</a:t>
            </a:r>
            <a:r>
              <a:rPr lang="en-US" b="1" dirty="0" smtClean="0"/>
              <a:t/>
            </a:r>
            <a:br>
              <a:rPr lang="en-US" b="1" dirty="0" smtClean="0"/>
            </a:br>
            <a:endParaRPr lang="en-US" dirty="0"/>
          </a:p>
        </p:txBody>
      </p:sp>
      <p:sp>
        <p:nvSpPr>
          <p:cNvPr id="3" name="Content Placeholder 2"/>
          <p:cNvSpPr>
            <a:spLocks noGrp="1"/>
          </p:cNvSpPr>
          <p:nvPr>
            <p:ph idx="1"/>
          </p:nvPr>
        </p:nvSpPr>
        <p:spPr>
          <a:xfrm>
            <a:off x="228600" y="1219200"/>
            <a:ext cx="8915400" cy="5410200"/>
          </a:xfrm>
        </p:spPr>
        <p:txBody>
          <a:bodyPr numCol="3">
            <a:normAutofit fontScale="55000" lnSpcReduction="20000"/>
          </a:bodyPr>
          <a:lstStyle/>
          <a:p>
            <a:pPr>
              <a:buNone/>
            </a:pPr>
            <a:r>
              <a:rPr lang="en-US" dirty="0"/>
              <a:t> </a:t>
            </a:r>
            <a:r>
              <a:rPr lang="en-US" dirty="0" smtClean="0"/>
              <a:t>     </a:t>
            </a:r>
            <a:r>
              <a:rPr lang="en-US" b="1" dirty="0" smtClean="0"/>
              <a:t>Column</a:t>
            </a:r>
            <a:r>
              <a:rPr lang="en-US" b="1" dirty="0"/>
              <a:t>: YEAR</a:t>
            </a:r>
            <a:endParaRPr lang="en-US" b="1" dirty="0" smtClean="0"/>
          </a:p>
          <a:p>
            <a:r>
              <a:rPr lang="en-US" dirty="0"/>
              <a:t>Mean: 2007.5</a:t>
            </a:r>
            <a:endParaRPr lang="en-US" b="0" dirty="0" smtClean="0"/>
          </a:p>
          <a:p>
            <a:r>
              <a:rPr lang="en-US" dirty="0"/>
              <a:t>Median: 2007.5</a:t>
            </a:r>
            <a:endParaRPr lang="en-US" b="0" dirty="0" smtClean="0"/>
          </a:p>
          <a:p>
            <a:r>
              <a:rPr lang="en-US" dirty="0"/>
              <a:t>Mode: 2001</a:t>
            </a:r>
            <a:endParaRPr lang="en-US" b="0" dirty="0" smtClean="0"/>
          </a:p>
          <a:p>
            <a:pPr>
              <a:buNone/>
            </a:pPr>
            <a:r>
              <a:rPr lang="en-US" b="0" dirty="0" smtClean="0"/>
              <a:t/>
            </a:r>
            <a:br>
              <a:rPr lang="en-US" b="0" dirty="0" smtClean="0"/>
            </a:br>
            <a:r>
              <a:rPr lang="en-US" b="1" dirty="0"/>
              <a:t>Column: 0-3 hrs. (Night)</a:t>
            </a:r>
            <a:endParaRPr lang="en-US" b="1" dirty="0" smtClean="0"/>
          </a:p>
          <a:p>
            <a:r>
              <a:rPr lang="en-US" dirty="0"/>
              <a:t>Mean: 796.3204081632653</a:t>
            </a:r>
            <a:endParaRPr lang="en-US" b="0" dirty="0" smtClean="0"/>
          </a:p>
          <a:p>
            <a:r>
              <a:rPr lang="en-US" dirty="0"/>
              <a:t>Median: 200.0</a:t>
            </a:r>
            <a:endParaRPr lang="en-US" b="0" dirty="0" smtClean="0"/>
          </a:p>
          <a:p>
            <a:r>
              <a:rPr lang="en-US" dirty="0"/>
              <a:t>Mode: 0</a:t>
            </a:r>
            <a:endParaRPr lang="en-US" b="0" dirty="0" smtClean="0"/>
          </a:p>
          <a:p>
            <a:pPr>
              <a:buNone/>
            </a:pPr>
            <a:r>
              <a:rPr lang="en-US" b="0" dirty="0" smtClean="0"/>
              <a:t/>
            </a:r>
            <a:br>
              <a:rPr lang="en-US" b="0" dirty="0" smtClean="0"/>
            </a:br>
            <a:r>
              <a:rPr lang="en-US" b="1" dirty="0"/>
              <a:t>Column: 3-6 hrs. (Night)</a:t>
            </a:r>
            <a:endParaRPr lang="en-US" b="1" dirty="0" smtClean="0"/>
          </a:p>
          <a:p>
            <a:r>
              <a:rPr lang="en-US" dirty="0"/>
              <a:t>Mean: 969.2367346938776</a:t>
            </a:r>
            <a:endParaRPr lang="en-US" b="0" dirty="0" smtClean="0"/>
          </a:p>
          <a:p>
            <a:r>
              <a:rPr lang="en-US" dirty="0"/>
              <a:t>Median: 251.5</a:t>
            </a:r>
            <a:endParaRPr lang="en-US" b="0" dirty="0" smtClean="0"/>
          </a:p>
          <a:p>
            <a:r>
              <a:rPr lang="en-US" dirty="0"/>
              <a:t>Mode: 0</a:t>
            </a:r>
            <a:endParaRPr lang="en-US" b="0" dirty="0" smtClean="0"/>
          </a:p>
          <a:p>
            <a:pPr>
              <a:buNone/>
            </a:pPr>
            <a:r>
              <a:rPr lang="en-US" b="1" dirty="0" smtClean="0"/>
              <a:t/>
            </a:r>
            <a:br>
              <a:rPr lang="en-US" b="1" dirty="0" smtClean="0"/>
            </a:br>
            <a:r>
              <a:rPr lang="en-US" b="1" dirty="0"/>
              <a:t>Column: 6-9 hrs (Day)</a:t>
            </a:r>
            <a:endParaRPr lang="en-US" b="1" dirty="0" smtClean="0"/>
          </a:p>
          <a:p>
            <a:r>
              <a:rPr lang="en-US" dirty="0"/>
              <a:t>Mean: 1371.1510204081633</a:t>
            </a:r>
            <a:endParaRPr lang="en-US" b="0" dirty="0" smtClean="0"/>
          </a:p>
          <a:p>
            <a:r>
              <a:rPr lang="en-US" dirty="0"/>
              <a:t>Median: 498.5</a:t>
            </a:r>
            <a:endParaRPr lang="en-US" b="0" dirty="0" smtClean="0"/>
          </a:p>
          <a:p>
            <a:r>
              <a:rPr lang="en-US" dirty="0"/>
              <a:t>Mode: </a:t>
            </a:r>
            <a:r>
              <a:rPr lang="en-US" dirty="0" smtClean="0"/>
              <a:t>0</a:t>
            </a:r>
            <a:r>
              <a:rPr lang="en-US" b="0" dirty="0" smtClean="0"/>
              <a:t/>
            </a:r>
            <a:br>
              <a:rPr lang="en-US" b="0" dirty="0" smtClean="0"/>
            </a:br>
            <a:r>
              <a:rPr lang="en-US" b="1" dirty="0"/>
              <a:t>Column: 9-12 hrs (Day)</a:t>
            </a:r>
            <a:endParaRPr lang="en-US" b="1" dirty="0" smtClean="0"/>
          </a:p>
          <a:p>
            <a:r>
              <a:rPr lang="en-US" dirty="0"/>
              <a:t>Mean: 1753.9673469387756</a:t>
            </a:r>
            <a:endParaRPr lang="en-US" b="0" dirty="0" smtClean="0"/>
          </a:p>
          <a:p>
            <a:r>
              <a:rPr lang="en-US" dirty="0"/>
              <a:t>Median: 678.0</a:t>
            </a:r>
            <a:endParaRPr lang="en-US" b="0" dirty="0" smtClean="0"/>
          </a:p>
          <a:p>
            <a:r>
              <a:rPr lang="en-US" dirty="0"/>
              <a:t>Mode: 0</a:t>
            </a:r>
            <a:endParaRPr lang="en-US" b="0" dirty="0" smtClean="0"/>
          </a:p>
          <a:p>
            <a:pPr>
              <a:buNone/>
            </a:pPr>
            <a:r>
              <a:rPr lang="en-US" b="0" dirty="0" smtClean="0"/>
              <a:t/>
            </a:r>
            <a:br>
              <a:rPr lang="en-US" b="0" dirty="0" smtClean="0"/>
            </a:br>
            <a:r>
              <a:rPr lang="en-US" b="1" dirty="0"/>
              <a:t>Column: 12-15 hrs (Day)</a:t>
            </a:r>
            <a:endParaRPr lang="en-US" b="1" dirty="0" smtClean="0"/>
          </a:p>
          <a:p>
            <a:r>
              <a:rPr lang="en-US" dirty="0"/>
              <a:t>Mean: 1681.8142857142857</a:t>
            </a:r>
            <a:endParaRPr lang="en-US" b="0" dirty="0" smtClean="0"/>
          </a:p>
          <a:p>
            <a:r>
              <a:rPr lang="en-US" dirty="0"/>
              <a:t>Median: 679.5</a:t>
            </a:r>
            <a:endParaRPr lang="en-US" b="0" dirty="0" smtClean="0"/>
          </a:p>
          <a:p>
            <a:r>
              <a:rPr lang="en-US" dirty="0"/>
              <a:t>Mode: 0</a:t>
            </a:r>
            <a:endParaRPr lang="en-US" b="0" dirty="0" smtClean="0"/>
          </a:p>
          <a:p>
            <a:pPr>
              <a:buNone/>
            </a:pPr>
            <a:r>
              <a:rPr lang="en-US" b="0" dirty="0" smtClean="0"/>
              <a:t/>
            </a:r>
            <a:br>
              <a:rPr lang="en-US" b="0" dirty="0" smtClean="0"/>
            </a:br>
            <a:r>
              <a:rPr lang="en-US" b="1" dirty="0"/>
              <a:t>Column: 15-18 hrs (Day)</a:t>
            </a:r>
            <a:endParaRPr lang="en-US" b="1" dirty="0" smtClean="0"/>
          </a:p>
          <a:p>
            <a:r>
              <a:rPr lang="en-US" dirty="0"/>
              <a:t>Mean: 1850.2836734693878</a:t>
            </a:r>
            <a:endParaRPr lang="en-US" b="0" dirty="0" smtClean="0"/>
          </a:p>
          <a:p>
            <a:r>
              <a:rPr lang="en-US" dirty="0"/>
              <a:t>Median: 669.0</a:t>
            </a:r>
            <a:endParaRPr lang="en-US" b="0" dirty="0" smtClean="0"/>
          </a:p>
          <a:p>
            <a:r>
              <a:rPr lang="en-US" dirty="0"/>
              <a:t>Mode: 0</a:t>
            </a:r>
            <a:endParaRPr lang="en-US" b="0" dirty="0" smtClean="0"/>
          </a:p>
          <a:p>
            <a:pPr>
              <a:buNone/>
            </a:pPr>
            <a:endParaRPr lang="en-US" b="0" dirty="0" smtClean="0"/>
          </a:p>
          <a:p>
            <a:pPr>
              <a:buNone/>
            </a:pPr>
            <a:endParaRPr lang="en-US" dirty="0"/>
          </a:p>
          <a:p>
            <a:pPr>
              <a:buNone/>
            </a:pPr>
            <a:r>
              <a:rPr lang="en-US" b="0" dirty="0" smtClean="0"/>
              <a:t/>
            </a:r>
            <a:br>
              <a:rPr lang="en-US" b="0" dirty="0" smtClean="0"/>
            </a:br>
            <a:r>
              <a:rPr lang="en-US" b="1" dirty="0"/>
              <a:t>Column: 18-21 hrs (Night)</a:t>
            </a:r>
            <a:endParaRPr lang="en-US" b="1" dirty="0" smtClean="0"/>
          </a:p>
          <a:p>
            <a:r>
              <a:rPr lang="en-US" dirty="0"/>
              <a:t>Mean: 1782.9183673469388</a:t>
            </a:r>
            <a:endParaRPr lang="en-US" b="0" dirty="0" smtClean="0"/>
          </a:p>
          <a:p>
            <a:r>
              <a:rPr lang="en-US" dirty="0"/>
              <a:t>Median: 517.0</a:t>
            </a:r>
            <a:endParaRPr lang="en-US" b="0" dirty="0" smtClean="0"/>
          </a:p>
          <a:p>
            <a:r>
              <a:rPr lang="en-US" dirty="0"/>
              <a:t>Mode: 0</a:t>
            </a:r>
            <a:endParaRPr lang="en-US" b="0" dirty="0" smtClean="0"/>
          </a:p>
          <a:p>
            <a:pPr>
              <a:buNone/>
            </a:pPr>
            <a:r>
              <a:rPr lang="en-US" b="0" dirty="0" smtClean="0"/>
              <a:t/>
            </a:r>
            <a:br>
              <a:rPr lang="en-US" b="0" dirty="0" smtClean="0"/>
            </a:br>
            <a:r>
              <a:rPr lang="en-US" b="1" dirty="0"/>
              <a:t>Column: 21-24 hrs (Night)</a:t>
            </a:r>
            <a:endParaRPr lang="en-US" b="1" dirty="0" smtClean="0"/>
          </a:p>
          <a:p>
            <a:r>
              <a:rPr lang="en-US" dirty="0"/>
              <a:t>Mean: 1228.8102040816327</a:t>
            </a:r>
            <a:endParaRPr lang="en-US" b="0" dirty="0" smtClean="0"/>
          </a:p>
          <a:p>
            <a:r>
              <a:rPr lang="en-US" dirty="0"/>
              <a:t>Median: 343.5</a:t>
            </a:r>
            <a:endParaRPr lang="en-US" b="0" dirty="0" smtClean="0"/>
          </a:p>
          <a:p>
            <a:r>
              <a:rPr lang="en-US" dirty="0"/>
              <a:t>Mode: 0</a:t>
            </a:r>
            <a:endParaRPr lang="en-US" b="0" dirty="0" smtClean="0"/>
          </a:p>
          <a:p>
            <a:pPr>
              <a:buNone/>
            </a:pPr>
            <a:r>
              <a:rPr lang="en-US" b="1" dirty="0" smtClean="0"/>
              <a:t/>
            </a:r>
            <a:br>
              <a:rPr lang="en-US" b="1" dirty="0" smtClean="0"/>
            </a:br>
            <a:r>
              <a:rPr lang="en-US" b="1" dirty="0"/>
              <a:t>Column: Total</a:t>
            </a:r>
            <a:endParaRPr lang="en-US" b="1" dirty="0" smtClean="0"/>
          </a:p>
          <a:p>
            <a:r>
              <a:rPr lang="en-US" dirty="0"/>
              <a:t>Mean: 11434.502040816327</a:t>
            </a:r>
            <a:endParaRPr lang="en-US" b="0" dirty="0" smtClean="0"/>
          </a:p>
          <a:p>
            <a:r>
              <a:rPr lang="en-US" dirty="0"/>
              <a:t>Median: 4174.5</a:t>
            </a:r>
            <a:endParaRPr lang="en-US" b="0" dirty="0" smtClean="0"/>
          </a:p>
          <a:p>
            <a:r>
              <a:rPr lang="en-US" dirty="0"/>
              <a:t>Mode: 0</a:t>
            </a:r>
            <a:endParaRPr lang="en-US" b="0" dirty="0" smtClean="0"/>
          </a:p>
          <a:p>
            <a:r>
              <a:rPr lang="en-US" b="0" dirty="0" smtClean="0"/>
              <a:t/>
            </a:r>
            <a:br>
              <a:rPr lang="en-US" b="0" dirty="0" smtClean="0"/>
            </a:br>
            <a:r>
              <a:rPr lang="en-US" b="0" dirty="0" smtClean="0"/>
              <a:t/>
            </a:r>
            <a:br>
              <a:rPr lang="en-US" b="0" dirty="0" smtClean="0"/>
            </a:b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8229600" cy="1143000"/>
          </a:xfrm>
        </p:spPr>
        <p:txBody>
          <a:bodyPr>
            <a:normAutofit fontScale="90000"/>
          </a:bodyPr>
          <a:lstStyle/>
          <a:p>
            <a:r>
              <a:rPr lang="en-US" dirty="0" smtClean="0"/>
              <a:t>Frequency and Data Distributions using Histogram For Data Set </a:t>
            </a:r>
            <a:r>
              <a:rPr lang="en-US" dirty="0"/>
              <a:t>3</a:t>
            </a:r>
            <a:r>
              <a:rPr lang="en-US" b="1" dirty="0" smtClean="0"/>
              <a:t/>
            </a:r>
            <a:br>
              <a:rPr lang="en-US" b="1" dirty="0" smtClean="0"/>
            </a:br>
            <a:endParaRPr lang="en-US" dirty="0"/>
          </a:p>
        </p:txBody>
      </p:sp>
      <p:pic>
        <p:nvPicPr>
          <p:cNvPr id="4" name="Content Placeholder 3" descr="Screenshot (473).png"/>
          <p:cNvPicPr>
            <a:picLocks noGrp="1" noChangeAspect="1"/>
          </p:cNvPicPr>
          <p:nvPr>
            <p:ph idx="1"/>
          </p:nvPr>
        </p:nvPicPr>
        <p:blipFill>
          <a:blip r:embed="rId2"/>
          <a:stretch>
            <a:fillRect/>
          </a:stretch>
        </p:blipFill>
        <p:spPr>
          <a:xfrm>
            <a:off x="838200" y="1828800"/>
            <a:ext cx="7848600" cy="4525963"/>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8229600" cy="1143000"/>
          </a:xfrm>
        </p:spPr>
        <p:txBody>
          <a:bodyPr>
            <a:normAutofit fontScale="90000"/>
          </a:bodyPr>
          <a:lstStyle/>
          <a:p>
            <a:r>
              <a:rPr lang="en-US" dirty="0" smtClean="0"/>
              <a:t>Correlation heat map for numeric columns</a:t>
            </a:r>
            <a:br>
              <a:rPr lang="en-US" dirty="0" smtClean="0"/>
            </a:br>
            <a:endParaRPr lang="en-US" dirty="0"/>
          </a:p>
        </p:txBody>
      </p:sp>
      <p:pic>
        <p:nvPicPr>
          <p:cNvPr id="4" name="Content Placeholder 3" descr="Screenshot (490).png"/>
          <p:cNvPicPr>
            <a:picLocks noGrp="1" noChangeAspect="1"/>
          </p:cNvPicPr>
          <p:nvPr>
            <p:ph idx="1"/>
          </p:nvPr>
        </p:nvPicPr>
        <p:blipFill>
          <a:blip r:embed="rId2"/>
          <a:stretch>
            <a:fillRect/>
          </a:stretch>
        </p:blipFill>
        <p:spPr>
          <a:xfrm>
            <a:off x="228600" y="1981200"/>
            <a:ext cx="8745133" cy="4582568"/>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lstStyle/>
          <a:p>
            <a:r>
              <a:rPr lang="en-US" dirty="0" smtClean="0"/>
              <a:t>Outlier for Data Set 3</a:t>
            </a:r>
            <a:endParaRPr lang="en-US" dirty="0"/>
          </a:p>
        </p:txBody>
      </p:sp>
      <p:pic>
        <p:nvPicPr>
          <p:cNvPr id="4" name="Content Placeholder 3" descr="Screenshot (491).png"/>
          <p:cNvPicPr>
            <a:picLocks noGrp="1" noChangeAspect="1"/>
          </p:cNvPicPr>
          <p:nvPr>
            <p:ph idx="1"/>
          </p:nvPr>
        </p:nvPicPr>
        <p:blipFill>
          <a:blip r:embed="rId2"/>
          <a:stretch>
            <a:fillRect/>
          </a:stretch>
        </p:blipFill>
        <p:spPr>
          <a:xfrm>
            <a:off x="609600" y="1981200"/>
            <a:ext cx="8229600" cy="3468170"/>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6800"/>
            <a:ext cx="2819400" cy="1143000"/>
          </a:xfrm>
        </p:spPr>
        <p:txBody>
          <a:bodyPr>
            <a:normAutofit fontScale="90000"/>
          </a:bodyPr>
          <a:lstStyle/>
          <a:p>
            <a:r>
              <a:rPr lang="en-US" dirty="0" smtClean="0"/>
              <a:t>4th Dataset </a:t>
            </a:r>
            <a:br>
              <a:rPr lang="en-US" dirty="0" smtClean="0"/>
            </a:br>
            <a:r>
              <a:rPr lang="en-US" dirty="0" smtClean="0"/>
              <a:t/>
            </a:r>
            <a:br>
              <a:rPr lang="en-US" dirty="0" smtClean="0"/>
            </a:br>
            <a:endParaRPr lang="en-US" dirty="0"/>
          </a:p>
        </p:txBody>
      </p:sp>
      <p:pic>
        <p:nvPicPr>
          <p:cNvPr id="4" name="Content Placeholder 3" descr="Screenshot (492).png"/>
          <p:cNvPicPr>
            <a:picLocks noGrp="1" noChangeAspect="1"/>
          </p:cNvPicPr>
          <p:nvPr>
            <p:ph idx="1"/>
          </p:nvPr>
        </p:nvPicPr>
        <p:blipFill>
          <a:blip r:embed="rId2"/>
          <a:stretch>
            <a:fillRect/>
          </a:stretch>
        </p:blipFill>
        <p:spPr>
          <a:xfrm>
            <a:off x="304800" y="1447800"/>
            <a:ext cx="8674807" cy="3200400"/>
          </a:xfrm>
        </p:spPr>
      </p:pic>
      <p:sp>
        <p:nvSpPr>
          <p:cNvPr id="5" name="TextBox 4"/>
          <p:cNvSpPr txBox="1"/>
          <p:nvPr/>
        </p:nvSpPr>
        <p:spPr>
          <a:xfrm>
            <a:off x="990600" y="5029200"/>
            <a:ext cx="5205207" cy="769441"/>
          </a:xfrm>
          <a:prstGeom prst="rect">
            <a:avLst/>
          </a:prstGeom>
          <a:noFill/>
        </p:spPr>
        <p:txBody>
          <a:bodyPr wrap="none" rtlCol="0">
            <a:spAutoFit/>
          </a:bodyPr>
          <a:lstStyle/>
          <a:p>
            <a:r>
              <a:rPr lang="en-US" sz="2400" dirty="0" smtClean="0"/>
              <a:t>Check Weather Data Set is imbalanced</a:t>
            </a:r>
            <a:r>
              <a:rPr lang="en-US" sz="2400" b="1" dirty="0" smtClean="0"/>
              <a:t> : </a:t>
            </a:r>
          </a:p>
          <a:p>
            <a:r>
              <a:rPr lang="en-US" sz="2000" dirty="0" smtClean="0"/>
              <a:t> Imbalanced Columns: ['STATE/UT']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Mean , Median or Mode for Dataset 4</a:t>
            </a:r>
            <a:r>
              <a:rPr lang="en-US" b="1" dirty="0" smtClean="0"/>
              <a:t/>
            </a:r>
            <a:br>
              <a:rPr lang="en-US" b="1" dirty="0" smtClean="0"/>
            </a:br>
            <a:endParaRPr lang="en-US" dirty="0"/>
          </a:p>
        </p:txBody>
      </p:sp>
      <p:sp>
        <p:nvSpPr>
          <p:cNvPr id="3" name="Content Placeholder 2"/>
          <p:cNvSpPr>
            <a:spLocks noGrp="1"/>
          </p:cNvSpPr>
          <p:nvPr>
            <p:ph idx="1"/>
          </p:nvPr>
        </p:nvSpPr>
        <p:spPr>
          <a:xfrm>
            <a:off x="0" y="1066800"/>
            <a:ext cx="9144000" cy="5791200"/>
          </a:xfrm>
        </p:spPr>
        <p:txBody>
          <a:bodyPr numCol="3">
            <a:normAutofit fontScale="47500" lnSpcReduction="20000"/>
          </a:bodyPr>
          <a:lstStyle/>
          <a:p>
            <a:pPr>
              <a:buNone/>
            </a:pPr>
            <a:r>
              <a:rPr lang="en-US" dirty="0" smtClean="0"/>
              <a:t>        </a:t>
            </a:r>
            <a:r>
              <a:rPr lang="en-US" b="1" dirty="0" smtClean="0"/>
              <a:t>Column</a:t>
            </a:r>
            <a:r>
              <a:rPr lang="en-US" b="1" dirty="0"/>
              <a:t>: YEAR</a:t>
            </a:r>
            <a:endParaRPr lang="en-US" b="1" dirty="0" smtClean="0"/>
          </a:p>
          <a:p>
            <a:r>
              <a:rPr lang="en-US" dirty="0"/>
              <a:t>Mean: 2007.5</a:t>
            </a:r>
            <a:endParaRPr lang="en-US" b="0" dirty="0" smtClean="0"/>
          </a:p>
          <a:p>
            <a:r>
              <a:rPr lang="en-US" dirty="0"/>
              <a:t>Median: 2007.5</a:t>
            </a:r>
            <a:endParaRPr lang="en-US" b="0" dirty="0" smtClean="0"/>
          </a:p>
          <a:p>
            <a:r>
              <a:rPr lang="en-US" dirty="0"/>
              <a:t>Mode: 2001</a:t>
            </a:r>
            <a:endParaRPr lang="en-US" b="0" dirty="0" smtClean="0"/>
          </a:p>
          <a:p>
            <a:pPr>
              <a:buNone/>
            </a:pPr>
            <a:r>
              <a:rPr lang="en-US" b="0" dirty="0" smtClean="0"/>
              <a:t/>
            </a:r>
            <a:br>
              <a:rPr lang="en-US" b="0" dirty="0" smtClean="0"/>
            </a:br>
            <a:r>
              <a:rPr lang="en-US" b="1" dirty="0"/>
              <a:t>Column: JANUARY</a:t>
            </a:r>
            <a:endParaRPr lang="en-US" b="1" dirty="0" smtClean="0"/>
          </a:p>
          <a:p>
            <a:r>
              <a:rPr lang="en-US" dirty="0"/>
              <a:t>Mean: 985.1408163265306</a:t>
            </a:r>
            <a:endParaRPr lang="en-US" b="0" dirty="0" smtClean="0"/>
          </a:p>
          <a:p>
            <a:r>
              <a:rPr lang="en-US" dirty="0"/>
              <a:t>Median: 329.5</a:t>
            </a:r>
            <a:endParaRPr lang="en-US" b="0" dirty="0" smtClean="0"/>
          </a:p>
          <a:p>
            <a:r>
              <a:rPr lang="en-US" dirty="0"/>
              <a:t>Mode: 6</a:t>
            </a:r>
            <a:endParaRPr lang="en-US" b="0" dirty="0" smtClean="0"/>
          </a:p>
          <a:p>
            <a:pPr>
              <a:buNone/>
            </a:pPr>
            <a:r>
              <a:rPr lang="en-US" b="0" dirty="0" smtClean="0"/>
              <a:t/>
            </a:r>
            <a:br>
              <a:rPr lang="en-US" b="0" dirty="0" smtClean="0"/>
            </a:br>
            <a:r>
              <a:rPr lang="en-US" b="1" dirty="0"/>
              <a:t>Column: FEBRUARY</a:t>
            </a:r>
            <a:endParaRPr lang="en-US" b="1" dirty="0" smtClean="0"/>
          </a:p>
          <a:p>
            <a:r>
              <a:rPr lang="en-US" dirty="0"/>
              <a:t>Mean: 937.2897959183673</a:t>
            </a:r>
            <a:endParaRPr lang="en-US" b="0" dirty="0" smtClean="0"/>
          </a:p>
          <a:p>
            <a:r>
              <a:rPr lang="en-US" dirty="0"/>
              <a:t>Median: 348.5</a:t>
            </a:r>
            <a:endParaRPr lang="en-US" b="0" dirty="0" smtClean="0"/>
          </a:p>
          <a:p>
            <a:r>
              <a:rPr lang="en-US" dirty="0"/>
              <a:t>Mode: 0</a:t>
            </a:r>
            <a:endParaRPr lang="en-US" b="0" dirty="0" smtClean="0"/>
          </a:p>
          <a:p>
            <a:pPr>
              <a:buNone/>
            </a:pPr>
            <a:r>
              <a:rPr lang="en-US" b="0" dirty="0" smtClean="0"/>
              <a:t/>
            </a:r>
            <a:br>
              <a:rPr lang="en-US" b="0" dirty="0" smtClean="0"/>
            </a:br>
            <a:r>
              <a:rPr lang="en-US" b="1" dirty="0"/>
              <a:t>Column: MARCH</a:t>
            </a:r>
            <a:endParaRPr lang="en-US" b="1" dirty="0" smtClean="0"/>
          </a:p>
          <a:p>
            <a:r>
              <a:rPr lang="en-US" dirty="0"/>
              <a:t>Mean: 992.1244897959184</a:t>
            </a:r>
            <a:endParaRPr lang="en-US" b="0" dirty="0" smtClean="0"/>
          </a:p>
          <a:p>
            <a:r>
              <a:rPr lang="en-US" dirty="0"/>
              <a:t>Median: 369.0</a:t>
            </a:r>
            <a:endParaRPr lang="en-US" b="0" dirty="0" smtClean="0"/>
          </a:p>
          <a:p>
            <a:r>
              <a:rPr lang="en-US" dirty="0"/>
              <a:t>Mode: </a:t>
            </a:r>
            <a:r>
              <a:rPr lang="en-US" dirty="0" smtClean="0"/>
              <a:t>0</a:t>
            </a:r>
            <a:endParaRPr lang="en-US" b="0" dirty="0" smtClean="0"/>
          </a:p>
          <a:p>
            <a:pPr>
              <a:buNone/>
            </a:pPr>
            <a:r>
              <a:rPr lang="en-US" b="0" dirty="0" smtClean="0"/>
              <a:t/>
            </a:r>
            <a:br>
              <a:rPr lang="en-US" b="0" dirty="0" smtClean="0"/>
            </a:br>
            <a:r>
              <a:rPr lang="en-US" b="1" dirty="0" smtClean="0"/>
              <a:t>Column: APRIL</a:t>
            </a:r>
          </a:p>
          <a:p>
            <a:r>
              <a:rPr lang="en-US" dirty="0" smtClean="0"/>
              <a:t>Mean</a:t>
            </a:r>
            <a:r>
              <a:rPr lang="en-US" dirty="0"/>
              <a:t>: 978.9040816326531</a:t>
            </a:r>
            <a:endParaRPr lang="en-US" b="0" dirty="0" smtClean="0"/>
          </a:p>
          <a:p>
            <a:r>
              <a:rPr lang="en-US" dirty="0"/>
              <a:t>Median: 350.0</a:t>
            </a:r>
            <a:endParaRPr lang="en-US" b="0" dirty="0" smtClean="0"/>
          </a:p>
          <a:p>
            <a:r>
              <a:rPr lang="en-US" dirty="0"/>
              <a:t>Mode: 0</a:t>
            </a:r>
            <a:endParaRPr lang="en-US" b="0" dirty="0" smtClean="0"/>
          </a:p>
          <a:p>
            <a:pPr>
              <a:buNone/>
            </a:pPr>
            <a:endParaRPr lang="en-US" dirty="0"/>
          </a:p>
          <a:p>
            <a:pPr>
              <a:buNone/>
            </a:pPr>
            <a:r>
              <a:rPr lang="en-US" dirty="0"/>
              <a:t> </a:t>
            </a:r>
            <a:r>
              <a:rPr lang="en-US" dirty="0" smtClean="0"/>
              <a:t>       </a:t>
            </a:r>
            <a:r>
              <a:rPr lang="en-US" b="1" dirty="0" smtClean="0"/>
              <a:t>Column</a:t>
            </a:r>
            <a:r>
              <a:rPr lang="en-US" b="1" dirty="0"/>
              <a:t>: MAY</a:t>
            </a:r>
            <a:endParaRPr lang="en-US" b="1" dirty="0" smtClean="0"/>
          </a:p>
          <a:p>
            <a:r>
              <a:rPr lang="en-US" dirty="0"/>
              <a:t>Mean: 1064.4142857142858</a:t>
            </a:r>
            <a:endParaRPr lang="en-US" b="0" dirty="0" smtClean="0"/>
          </a:p>
          <a:p>
            <a:r>
              <a:rPr lang="en-US" dirty="0"/>
              <a:t>Median: 387.5</a:t>
            </a:r>
            <a:endParaRPr lang="en-US" b="0" dirty="0" smtClean="0"/>
          </a:p>
          <a:p>
            <a:r>
              <a:rPr lang="en-US" dirty="0"/>
              <a:t>Mode: 0</a:t>
            </a:r>
            <a:endParaRPr lang="en-US" b="0" dirty="0" smtClean="0"/>
          </a:p>
          <a:p>
            <a:pPr>
              <a:buNone/>
            </a:pPr>
            <a:r>
              <a:rPr lang="en-US" b="0" dirty="0" smtClean="0"/>
              <a:t/>
            </a:r>
            <a:br>
              <a:rPr lang="en-US" b="0" dirty="0" smtClean="0"/>
            </a:br>
            <a:r>
              <a:rPr lang="en-US" b="1" dirty="0"/>
              <a:t>Column: JUNE</a:t>
            </a:r>
            <a:endParaRPr lang="en-US" b="1" dirty="0" smtClean="0"/>
          </a:p>
          <a:p>
            <a:r>
              <a:rPr lang="en-US" dirty="0"/>
              <a:t>Mean: 966.4775510204082</a:t>
            </a:r>
            <a:endParaRPr lang="en-US" b="0" dirty="0" smtClean="0"/>
          </a:p>
          <a:p>
            <a:r>
              <a:rPr lang="en-US" dirty="0"/>
              <a:t>Median: 342.5</a:t>
            </a:r>
            <a:endParaRPr lang="en-US" b="0" dirty="0" smtClean="0"/>
          </a:p>
          <a:p>
            <a:r>
              <a:rPr lang="en-US" dirty="0"/>
              <a:t>Mode: 0</a:t>
            </a:r>
            <a:endParaRPr lang="en-US" b="0" dirty="0" smtClean="0"/>
          </a:p>
          <a:p>
            <a:pPr>
              <a:buNone/>
            </a:pPr>
            <a:r>
              <a:rPr lang="en-US" b="0" dirty="0" smtClean="0"/>
              <a:t/>
            </a:r>
            <a:br>
              <a:rPr lang="en-US" b="0" dirty="0" smtClean="0"/>
            </a:br>
            <a:r>
              <a:rPr lang="en-US" b="1" dirty="0"/>
              <a:t>Column: JULY</a:t>
            </a:r>
            <a:endParaRPr lang="en-US" b="1" dirty="0" smtClean="0"/>
          </a:p>
          <a:p>
            <a:r>
              <a:rPr lang="en-US" dirty="0"/>
              <a:t>Mean: 898.4959183673469</a:t>
            </a:r>
            <a:endParaRPr lang="en-US" b="0" dirty="0" smtClean="0"/>
          </a:p>
          <a:p>
            <a:r>
              <a:rPr lang="en-US" dirty="0"/>
              <a:t>Median: 308.0</a:t>
            </a:r>
            <a:endParaRPr lang="en-US" b="0" dirty="0" smtClean="0"/>
          </a:p>
          <a:p>
            <a:r>
              <a:rPr lang="en-US" dirty="0"/>
              <a:t>Mode: 0</a:t>
            </a:r>
            <a:endParaRPr lang="en-US" b="0" dirty="0" smtClean="0"/>
          </a:p>
          <a:p>
            <a:pPr>
              <a:buNone/>
            </a:pPr>
            <a:r>
              <a:rPr lang="en-US" b="0" dirty="0" smtClean="0"/>
              <a:t/>
            </a:r>
            <a:br>
              <a:rPr lang="en-US" b="0" dirty="0" smtClean="0"/>
            </a:br>
            <a:r>
              <a:rPr lang="en-US" b="1" dirty="0"/>
              <a:t>Column: AUGUST</a:t>
            </a:r>
            <a:endParaRPr lang="en-US" b="1" dirty="0" smtClean="0"/>
          </a:p>
          <a:p>
            <a:r>
              <a:rPr lang="en-US" dirty="0"/>
              <a:t>Mean: 894.5938775510205</a:t>
            </a:r>
            <a:endParaRPr lang="en-US" b="0" dirty="0" smtClean="0"/>
          </a:p>
          <a:p>
            <a:r>
              <a:rPr lang="en-US" dirty="0"/>
              <a:t>Median: 313.0</a:t>
            </a:r>
            <a:endParaRPr lang="en-US" b="0" dirty="0" smtClean="0"/>
          </a:p>
          <a:p>
            <a:r>
              <a:rPr lang="en-US" dirty="0"/>
              <a:t>Mode: 0</a:t>
            </a:r>
            <a:endParaRPr lang="en-US" b="0" dirty="0" smtClean="0"/>
          </a:p>
          <a:p>
            <a:pPr>
              <a:buNone/>
            </a:pPr>
            <a:r>
              <a:rPr lang="en-US" b="0" dirty="0" smtClean="0"/>
              <a:t/>
            </a:r>
            <a:br>
              <a:rPr lang="en-US" b="0" dirty="0" smtClean="0"/>
            </a:br>
            <a:r>
              <a:rPr lang="en-US" b="1" dirty="0"/>
              <a:t>Column: SEPTEMBER</a:t>
            </a:r>
            <a:endParaRPr lang="en-US" b="1" dirty="0" smtClean="0"/>
          </a:p>
          <a:p>
            <a:r>
              <a:rPr lang="en-US" dirty="0"/>
              <a:t>Mean: 888.3714285714286</a:t>
            </a:r>
            <a:endParaRPr lang="en-US" b="0" dirty="0" smtClean="0"/>
          </a:p>
          <a:p>
            <a:r>
              <a:rPr lang="en-US" dirty="0"/>
              <a:t>Median: 311.5</a:t>
            </a:r>
            <a:endParaRPr lang="en-US" b="0" dirty="0" smtClean="0"/>
          </a:p>
          <a:p>
            <a:r>
              <a:rPr lang="en-US" dirty="0"/>
              <a:t>Mode: 0</a:t>
            </a:r>
            <a:endParaRPr lang="en-US" b="0" dirty="0" smtClean="0"/>
          </a:p>
          <a:p>
            <a:pPr>
              <a:buNone/>
            </a:pPr>
            <a:endParaRPr lang="en-US" b="0" dirty="0" smtClean="0"/>
          </a:p>
          <a:p>
            <a:pPr>
              <a:buNone/>
            </a:pPr>
            <a:r>
              <a:rPr lang="en-US" dirty="0"/>
              <a:t> </a:t>
            </a:r>
            <a:r>
              <a:rPr lang="en-US" dirty="0" smtClean="0"/>
              <a:t>       </a:t>
            </a:r>
            <a:r>
              <a:rPr lang="en-US" b="1" dirty="0" smtClean="0"/>
              <a:t>Column</a:t>
            </a:r>
            <a:r>
              <a:rPr lang="en-US" b="1" dirty="0"/>
              <a:t>: OCTOBER</a:t>
            </a:r>
            <a:endParaRPr lang="en-US" b="1" dirty="0" smtClean="0"/>
          </a:p>
          <a:p>
            <a:r>
              <a:rPr lang="en-US" dirty="0"/>
              <a:t>Mean: 928.4918367346938</a:t>
            </a:r>
            <a:endParaRPr lang="en-US" b="0" dirty="0" smtClean="0"/>
          </a:p>
          <a:p>
            <a:r>
              <a:rPr lang="en-US" dirty="0"/>
              <a:t>Median: 311.5</a:t>
            </a:r>
            <a:endParaRPr lang="en-US" b="0" dirty="0" smtClean="0"/>
          </a:p>
          <a:p>
            <a:r>
              <a:rPr lang="en-US" dirty="0"/>
              <a:t>Mode: 0</a:t>
            </a:r>
            <a:endParaRPr lang="en-US" b="0" dirty="0" smtClean="0"/>
          </a:p>
          <a:p>
            <a:pPr>
              <a:buNone/>
            </a:pPr>
            <a:r>
              <a:rPr lang="en-US" b="0" dirty="0" smtClean="0"/>
              <a:t/>
            </a:r>
            <a:br>
              <a:rPr lang="en-US" b="0" dirty="0" smtClean="0"/>
            </a:br>
            <a:r>
              <a:rPr lang="en-US" b="1" dirty="0"/>
              <a:t>Column: NOVEMBER</a:t>
            </a:r>
            <a:endParaRPr lang="en-US" b="1" dirty="0" smtClean="0"/>
          </a:p>
          <a:p>
            <a:r>
              <a:rPr lang="en-US" dirty="0"/>
              <a:t>Mean: 933.0448979591837</a:t>
            </a:r>
            <a:endParaRPr lang="en-US" b="0" dirty="0" smtClean="0"/>
          </a:p>
          <a:p>
            <a:r>
              <a:rPr lang="en-US" dirty="0"/>
              <a:t>Median: 331.0</a:t>
            </a:r>
            <a:endParaRPr lang="en-US" b="0" dirty="0" smtClean="0"/>
          </a:p>
          <a:p>
            <a:r>
              <a:rPr lang="en-US" dirty="0"/>
              <a:t>Mode: 0</a:t>
            </a:r>
            <a:endParaRPr lang="en-US" b="0" dirty="0" smtClean="0"/>
          </a:p>
          <a:p>
            <a:pPr>
              <a:buNone/>
            </a:pPr>
            <a:r>
              <a:rPr lang="en-US" b="1" dirty="0" smtClean="0"/>
              <a:t/>
            </a:r>
            <a:br>
              <a:rPr lang="en-US" b="1" dirty="0" smtClean="0"/>
            </a:br>
            <a:r>
              <a:rPr lang="en-US" b="1" dirty="0"/>
              <a:t>Column: DECEMBER</a:t>
            </a:r>
            <a:endParaRPr lang="en-US" b="1" dirty="0" smtClean="0"/>
          </a:p>
          <a:p>
            <a:r>
              <a:rPr lang="en-US" dirty="0"/>
              <a:t>Mean: 967.1530612244898</a:t>
            </a:r>
            <a:endParaRPr lang="en-US" b="0" dirty="0" smtClean="0"/>
          </a:p>
          <a:p>
            <a:r>
              <a:rPr lang="en-US" dirty="0"/>
              <a:t>Median: 347.5</a:t>
            </a:r>
            <a:endParaRPr lang="en-US" b="0" dirty="0" smtClean="0"/>
          </a:p>
          <a:p>
            <a:r>
              <a:rPr lang="en-US" dirty="0"/>
              <a:t>Mode: 0</a:t>
            </a:r>
            <a:endParaRPr lang="en-US" b="0" dirty="0" smtClean="0"/>
          </a:p>
          <a:p>
            <a:pPr>
              <a:buNone/>
            </a:pPr>
            <a:r>
              <a:rPr lang="en-US" b="0" dirty="0" smtClean="0"/>
              <a:t/>
            </a:r>
            <a:br>
              <a:rPr lang="en-US" b="0" dirty="0" smtClean="0"/>
            </a:br>
            <a:r>
              <a:rPr lang="en-US" b="1" dirty="0"/>
              <a:t>Column: TOTAL</a:t>
            </a:r>
            <a:endParaRPr lang="en-US" b="1" dirty="0" smtClean="0"/>
          </a:p>
          <a:p>
            <a:r>
              <a:rPr lang="en-US" dirty="0"/>
              <a:t>Mean: 11434.502040816327</a:t>
            </a:r>
            <a:endParaRPr lang="en-US" b="0" dirty="0" smtClean="0"/>
          </a:p>
          <a:p>
            <a:r>
              <a:rPr lang="en-US" dirty="0"/>
              <a:t>Median: 4174.5</a:t>
            </a:r>
            <a:endParaRPr lang="en-US" b="0" dirty="0" smtClean="0"/>
          </a:p>
          <a:p>
            <a:r>
              <a:rPr lang="en-US" dirty="0"/>
              <a:t>Mode: 0</a:t>
            </a:r>
            <a:endParaRPr lang="en-US" b="0" dirty="0" smtClean="0"/>
          </a:p>
          <a:p>
            <a:r>
              <a:rPr lang="en-US" b="0" dirty="0" smtClean="0"/>
              <a:t/>
            </a:r>
            <a:br>
              <a:rPr lang="en-US" b="0" dirty="0" smtClean="0"/>
            </a:br>
            <a:r>
              <a:rPr lang="en-US" b="0" dirty="0" smtClean="0"/>
              <a:t/>
            </a:r>
            <a:br>
              <a:rPr lang="en-US" b="0" dirty="0" smtClean="0"/>
            </a:b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143000"/>
          </a:xfrm>
        </p:spPr>
        <p:txBody>
          <a:bodyPr>
            <a:normAutofit fontScale="90000"/>
          </a:bodyPr>
          <a:lstStyle/>
          <a:p>
            <a:r>
              <a:rPr lang="en-US" dirty="0" smtClean="0"/>
              <a:t>Frequency and Data Distributions using Histogram For Data Set 4</a:t>
            </a:r>
            <a:r>
              <a:rPr lang="en-US" b="1" dirty="0" smtClean="0"/>
              <a:t/>
            </a:r>
            <a:br>
              <a:rPr lang="en-US" b="1" dirty="0" smtClean="0"/>
            </a:br>
            <a:endParaRPr lang="en-US" dirty="0"/>
          </a:p>
        </p:txBody>
      </p:sp>
      <p:pic>
        <p:nvPicPr>
          <p:cNvPr id="4" name="Content Placeholder 3" descr="Screenshot (475).png"/>
          <p:cNvPicPr>
            <a:picLocks noGrp="1" noChangeAspect="1"/>
          </p:cNvPicPr>
          <p:nvPr>
            <p:ph idx="1"/>
          </p:nvPr>
        </p:nvPicPr>
        <p:blipFill>
          <a:blip r:embed="rId2"/>
          <a:stretch>
            <a:fillRect/>
          </a:stretch>
        </p:blipFill>
        <p:spPr>
          <a:xfrm>
            <a:off x="533400" y="1752600"/>
            <a:ext cx="8229600" cy="4525963"/>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r>
              <a:rPr lang="en-US" dirty="0" smtClean="0"/>
              <a:t>Correlation heat map for numeric columns</a:t>
            </a:r>
            <a:br>
              <a:rPr lang="en-US" dirty="0" smtClean="0"/>
            </a:br>
            <a:endParaRPr lang="en-US" dirty="0"/>
          </a:p>
        </p:txBody>
      </p:sp>
      <p:pic>
        <p:nvPicPr>
          <p:cNvPr id="4" name="Content Placeholder 3" descr="Screenshot (494).png"/>
          <p:cNvPicPr>
            <a:picLocks noGrp="1" noChangeAspect="1"/>
          </p:cNvPicPr>
          <p:nvPr>
            <p:ph idx="1"/>
          </p:nvPr>
        </p:nvPicPr>
        <p:blipFill>
          <a:blip r:embed="rId2"/>
          <a:stretch>
            <a:fillRect/>
          </a:stretch>
        </p:blipFill>
        <p:spPr>
          <a:xfrm>
            <a:off x="0" y="1524000"/>
            <a:ext cx="9144000" cy="4876800"/>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dirty="0" smtClean="0"/>
              <a:t>Outliers for Data Set 4</a:t>
            </a:r>
            <a:endParaRPr lang="en-US" dirty="0"/>
          </a:p>
        </p:txBody>
      </p:sp>
      <p:pic>
        <p:nvPicPr>
          <p:cNvPr id="4" name="Content Placeholder 3" descr="Screenshot (495).png"/>
          <p:cNvPicPr>
            <a:picLocks noGrp="1" noChangeAspect="1"/>
          </p:cNvPicPr>
          <p:nvPr>
            <p:ph idx="1"/>
          </p:nvPr>
        </p:nvPicPr>
        <p:blipFill>
          <a:blip r:embed="rId2"/>
          <a:stretch>
            <a:fillRect/>
          </a:stretch>
        </p:blipFill>
        <p:spPr>
          <a:xfrm>
            <a:off x="457200" y="1676400"/>
            <a:ext cx="8229600" cy="3653549"/>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Model Training</a:t>
            </a:r>
            <a:endParaRPr lang="en-US" dirty="0"/>
          </a:p>
        </p:txBody>
      </p:sp>
      <p:sp>
        <p:nvSpPr>
          <p:cNvPr id="3" name="Content Placeholder 2"/>
          <p:cNvSpPr>
            <a:spLocks noGrp="1"/>
          </p:cNvSpPr>
          <p:nvPr>
            <p:ph idx="1"/>
          </p:nvPr>
        </p:nvSpPr>
        <p:spPr>
          <a:xfrm>
            <a:off x="0" y="1066800"/>
            <a:ext cx="9144000" cy="5287963"/>
          </a:xfrm>
        </p:spPr>
        <p:txBody>
          <a:bodyPr>
            <a:normAutofit fontScale="85000" lnSpcReduction="20000"/>
          </a:bodyPr>
          <a:lstStyle/>
          <a:p>
            <a:pPr>
              <a:buNone/>
            </a:pPr>
            <a:r>
              <a:rPr lang="en-US" dirty="0" smtClean="0"/>
              <a:t>     </a:t>
            </a:r>
            <a:r>
              <a:rPr lang="en-US" sz="2400" dirty="0" smtClean="0"/>
              <a:t>The dataset is trained on four models linear Regression, Random Forest , SVM model and Decision Tree Classifier</a:t>
            </a:r>
            <a:r>
              <a:rPr lang="en-US" dirty="0" smtClean="0"/>
              <a:t>. </a:t>
            </a:r>
          </a:p>
          <a:p>
            <a:pPr>
              <a:buNone/>
            </a:pPr>
            <a:endParaRPr lang="en-US" dirty="0" smtClean="0"/>
          </a:p>
          <a:p>
            <a:pPr marL="457200" indent="-457200">
              <a:buAutoNum type="arabicPeriod"/>
            </a:pPr>
            <a:r>
              <a:rPr lang="en-US" sz="2200" b="1" dirty="0" smtClean="0"/>
              <a:t>Linear </a:t>
            </a:r>
            <a:r>
              <a:rPr lang="en-US" sz="2200" b="1" dirty="0"/>
              <a:t>Regression:</a:t>
            </a:r>
            <a:r>
              <a:rPr lang="en-US" sz="2200" dirty="0"/>
              <a:t> </a:t>
            </a:r>
            <a:r>
              <a:rPr lang="en-US" sz="2200" dirty="0" smtClean="0"/>
              <a:t>It is used for predicting </a:t>
            </a:r>
            <a:r>
              <a:rPr lang="en-US" sz="2200" dirty="0"/>
              <a:t>a continuous outcome variable (dependent variable) based on one or more predictor variables (independent variables). It models the relationship between the variables as a linear equation, aiming to find the best-fitting line (or </a:t>
            </a:r>
            <a:r>
              <a:rPr lang="en-US" sz="2200" dirty="0" smtClean="0"/>
              <a:t>hyper plane) </a:t>
            </a:r>
            <a:r>
              <a:rPr lang="en-US" sz="2200" dirty="0"/>
              <a:t>that minimizes the sum of squared differences between the observed and predicted values. </a:t>
            </a:r>
            <a:r>
              <a:rPr lang="en-US" sz="2200" dirty="0" smtClean="0"/>
              <a:t>It is used for </a:t>
            </a:r>
            <a:r>
              <a:rPr lang="en-US" sz="2200" dirty="0"/>
              <a:t>problems where the relationship between variables is roughly linear</a:t>
            </a:r>
            <a:r>
              <a:rPr lang="en-US" dirty="0" smtClean="0"/>
              <a:t>.</a:t>
            </a:r>
            <a:endParaRPr lang="en-US" dirty="0"/>
          </a:p>
          <a:p>
            <a:pPr marL="457200" indent="-457200">
              <a:buAutoNum type="arabicPeriod"/>
            </a:pPr>
            <a:endParaRPr lang="en-US" dirty="0" smtClean="0"/>
          </a:p>
          <a:p>
            <a:pPr marL="514350" indent="-514350">
              <a:buNone/>
            </a:pPr>
            <a:r>
              <a:rPr lang="en-US" sz="2600" b="1" dirty="0" smtClean="0"/>
              <a:t>2.    Decision Tree:  </a:t>
            </a:r>
            <a:r>
              <a:rPr lang="en-US" sz="2600" dirty="0" smtClean="0"/>
              <a:t>It </a:t>
            </a:r>
            <a:r>
              <a:rPr lang="en-US" sz="2400" dirty="0" smtClean="0"/>
              <a:t>is a supervised learning algorithm used for both classification and regression tasks. It creates a tree-like model of decisions and their consequences. At each internal node of the tree, a decision is made based on one of the input features, leading to a branch corresponding to the possible outcomes. This process continues until a final decision (leaf node) is reached. Decision Trees are easy to understand and interpret but can be prone to over fitting if not properly pruned.</a:t>
            </a:r>
          </a:p>
          <a:p>
            <a:pPr marL="514350" indent="-514350">
              <a:buNone/>
            </a:pP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Training</a:t>
            </a:r>
            <a:endParaRPr lang="en-US" dirty="0"/>
          </a:p>
        </p:txBody>
      </p:sp>
      <p:sp>
        <p:nvSpPr>
          <p:cNvPr id="3" name="Content Placeholder 2"/>
          <p:cNvSpPr>
            <a:spLocks noGrp="1"/>
          </p:cNvSpPr>
          <p:nvPr>
            <p:ph idx="1"/>
          </p:nvPr>
        </p:nvSpPr>
        <p:spPr/>
        <p:txBody>
          <a:bodyPr>
            <a:normAutofit/>
          </a:bodyPr>
          <a:lstStyle/>
          <a:p>
            <a:pPr marL="457200" indent="-457200">
              <a:buAutoNum type="arabicPeriod" startAt="3"/>
            </a:pPr>
            <a:r>
              <a:rPr lang="en-US" sz="2000" b="1" dirty="0" smtClean="0"/>
              <a:t>Support </a:t>
            </a:r>
            <a:r>
              <a:rPr lang="en-US" sz="2000" b="1" dirty="0"/>
              <a:t>Vector Machine (SVM):</a:t>
            </a:r>
            <a:r>
              <a:rPr lang="en-US" sz="2000" dirty="0"/>
              <a:t> SVM is a supervised machine learning algorithm used for both classification and regression tasks. It works by finding the optimal </a:t>
            </a:r>
            <a:r>
              <a:rPr lang="en-US" sz="2000" dirty="0" smtClean="0"/>
              <a:t>hyper plane </a:t>
            </a:r>
            <a:r>
              <a:rPr lang="en-US" sz="2000" dirty="0"/>
              <a:t>that best separates different classes in a high-dimensional feature space. The primary objective is to maximize the margin between classes, making SVM effective in cases where the data is not linearly </a:t>
            </a:r>
            <a:r>
              <a:rPr lang="en-US" sz="2000" dirty="0" smtClean="0"/>
              <a:t>separable.</a:t>
            </a:r>
          </a:p>
          <a:p>
            <a:pPr marL="457200" indent="-457200">
              <a:buNone/>
            </a:pPr>
            <a:endParaRPr lang="en-US" sz="2000" dirty="0" smtClean="0"/>
          </a:p>
          <a:p>
            <a:pPr>
              <a:buNone/>
            </a:pPr>
            <a:r>
              <a:rPr lang="en-US" sz="2000" b="1" dirty="0" smtClean="0"/>
              <a:t>4.   Random Forest:</a:t>
            </a:r>
            <a:r>
              <a:rPr lang="en-US" sz="2000" dirty="0" smtClean="0"/>
              <a:t> Random Forest is an ensemble learning method that combines multiple decision trees to improve predictive accuracy. It works by creating a collection of decision trees and aggregating their predictions. Each tree is constructed from a random subset of the data, and the final prediction is obtained by averaging (for regression) or voting (for classification) the predictions from individual trees. </a:t>
            </a:r>
          </a:p>
          <a:p>
            <a:endParaRPr lang="en-US" sz="2000" dirty="0" smtClean="0"/>
          </a:p>
          <a:p>
            <a:endParaRPr lang="en-US" sz="2000" dirty="0"/>
          </a:p>
          <a:p>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33400"/>
            <a:ext cx="8686800" cy="1143000"/>
          </a:xfrm>
        </p:spPr>
        <p:txBody>
          <a:bodyPr>
            <a:normAutofit fontScale="90000"/>
          </a:bodyPr>
          <a:lstStyle/>
          <a:p>
            <a:r>
              <a:rPr lang="en-US" b="1" dirty="0"/>
              <a:t>Linear Regression </a:t>
            </a:r>
            <a:r>
              <a:rPr lang="en-US" b="1" dirty="0" smtClean="0"/>
              <a:t>Model </a:t>
            </a:r>
            <a:r>
              <a:rPr lang="en-US" b="1" dirty="0"/>
              <a:t/>
            </a:r>
            <a:br>
              <a:rPr lang="en-US" b="1" dirty="0"/>
            </a:br>
            <a:endParaRPr lang="en-US" dirty="0"/>
          </a:p>
        </p:txBody>
      </p:sp>
      <p:sp>
        <p:nvSpPr>
          <p:cNvPr id="3" name="Content Placeholder 2"/>
          <p:cNvSpPr>
            <a:spLocks noGrp="1"/>
          </p:cNvSpPr>
          <p:nvPr>
            <p:ph idx="1"/>
          </p:nvPr>
        </p:nvSpPr>
        <p:spPr>
          <a:xfrm>
            <a:off x="0" y="1600200"/>
            <a:ext cx="9448800" cy="5257800"/>
          </a:xfrm>
        </p:spPr>
        <p:txBody>
          <a:bodyPr>
            <a:normAutofit/>
          </a:bodyPr>
          <a:lstStyle/>
          <a:p>
            <a:r>
              <a:rPr lang="en-US" dirty="0" smtClean="0"/>
              <a:t>For Data </a:t>
            </a:r>
            <a:r>
              <a:rPr lang="en-US" sz="2800" dirty="0" smtClean="0"/>
              <a:t>Set</a:t>
            </a:r>
            <a:r>
              <a:rPr lang="en-US" dirty="0" smtClean="0"/>
              <a:t> 1</a:t>
            </a:r>
          </a:p>
          <a:p>
            <a:pPr>
              <a:buNone/>
            </a:pPr>
            <a:r>
              <a:rPr lang="en-US" sz="2000" dirty="0" smtClean="0"/>
              <a:t>      Coefficients: [ 0.04428294 -0.00875663 0.02398015 -0.00555943 -0.04804786] </a:t>
            </a:r>
          </a:p>
          <a:p>
            <a:pPr>
              <a:buNone/>
            </a:pPr>
            <a:r>
              <a:rPr lang="en-US" sz="2000" dirty="0"/>
              <a:t> </a:t>
            </a:r>
            <a:r>
              <a:rPr lang="en-US" sz="2000" dirty="0" smtClean="0"/>
              <a:t>     Intercept: 2.806133469000831 </a:t>
            </a:r>
          </a:p>
          <a:p>
            <a:pPr>
              <a:buNone/>
            </a:pPr>
            <a:r>
              <a:rPr lang="en-US" sz="2000" dirty="0"/>
              <a:t> </a:t>
            </a:r>
            <a:r>
              <a:rPr lang="en-US" sz="2000" dirty="0" smtClean="0"/>
              <a:t>     Mean Squared Error: 0.15595556756117437</a:t>
            </a:r>
          </a:p>
          <a:p>
            <a:pPr>
              <a:buNone/>
            </a:pPr>
            <a:r>
              <a:rPr lang="en-US" sz="2000" dirty="0"/>
              <a:t> </a:t>
            </a:r>
            <a:r>
              <a:rPr lang="en-US" sz="2000" dirty="0" smtClean="0"/>
              <a:t>     R-squared: -0.007968590098511141</a:t>
            </a:r>
          </a:p>
          <a:p>
            <a:r>
              <a:rPr lang="en-US" sz="2800" dirty="0" smtClean="0"/>
              <a:t>For Data Set 2 </a:t>
            </a:r>
            <a:endParaRPr lang="en-US" sz="2200" dirty="0" smtClean="0"/>
          </a:p>
          <a:p>
            <a:pPr>
              <a:buNone/>
            </a:pPr>
            <a:r>
              <a:rPr lang="en-US" sz="2100" dirty="0" smtClean="0"/>
              <a:t>      Coefficients: [ 0.04269876 -0.01315217 -0.04068989 -0.01648262   0.01003534]</a:t>
            </a:r>
          </a:p>
          <a:p>
            <a:pPr>
              <a:buNone/>
            </a:pPr>
            <a:r>
              <a:rPr lang="en-US" sz="2100" dirty="0" smtClean="0"/>
              <a:t>      Intercept: 2.847079774734122</a:t>
            </a:r>
          </a:p>
          <a:p>
            <a:pPr>
              <a:buNone/>
            </a:pPr>
            <a:r>
              <a:rPr lang="en-US" sz="2100" dirty="0" smtClean="0"/>
              <a:t>      Mean Squared Error: 0.18666500926387025 </a:t>
            </a:r>
          </a:p>
          <a:p>
            <a:pPr>
              <a:buNone/>
            </a:pPr>
            <a:r>
              <a:rPr lang="en-US" sz="2100" dirty="0" smtClean="0"/>
              <a:t>      R-squared: -0.003607266195829295</a:t>
            </a:r>
            <a:endParaRPr lang="en-US" sz="2800"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US" b="1" dirty="0" smtClean="0"/>
              <a:t>Linear Regression Model </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For Data Set 3</a:t>
            </a:r>
          </a:p>
          <a:p>
            <a:pPr>
              <a:buNone/>
            </a:pPr>
            <a:r>
              <a:rPr lang="en-US" sz="1800" dirty="0" smtClean="0"/>
              <a:t>Coefficients: [0.11111111 0.11111111 0.11111111 0.11111111 0.11111111 0.11111111 0.11111111 0.11111111 0.88888889] </a:t>
            </a:r>
          </a:p>
          <a:p>
            <a:pPr>
              <a:buNone/>
            </a:pPr>
            <a:r>
              <a:rPr lang="en-US" sz="1800" dirty="0" smtClean="0"/>
              <a:t>Intercept: 1.2732925824820995e-11 </a:t>
            </a:r>
          </a:p>
          <a:p>
            <a:pPr>
              <a:buNone/>
            </a:pPr>
            <a:r>
              <a:rPr lang="en-US" sz="1800" dirty="0" smtClean="0"/>
              <a:t>Mean Squared Error: 5.221461714685703e-22 </a:t>
            </a:r>
          </a:p>
          <a:p>
            <a:pPr>
              <a:buNone/>
            </a:pPr>
            <a:r>
              <a:rPr lang="en-US" sz="1800" dirty="0" smtClean="0"/>
              <a:t>R-squared: 1.0</a:t>
            </a:r>
          </a:p>
          <a:p>
            <a:pPr>
              <a:buNone/>
            </a:pPr>
            <a:endParaRPr lang="en-US" sz="1800" dirty="0" smtClean="0"/>
          </a:p>
          <a:p>
            <a:r>
              <a:rPr lang="en-US" dirty="0" smtClean="0"/>
              <a:t>For Data Set 4</a:t>
            </a:r>
          </a:p>
          <a:p>
            <a:r>
              <a:rPr lang="en-US" sz="2000" dirty="0" smtClean="0"/>
              <a:t>Coefficients: [1. 1. 1. 1. 1. 1. 1. 1. 1. 1. 1. 1.] Intercept: 5.4569682106375694e-12 Mean Squared Error: 1.0079207449373342e-22 R-squared: 1.0</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US" dirty="0" smtClean="0"/>
              <a:t>Decision Tree Model</a:t>
            </a:r>
            <a:endParaRPr lang="en-US" dirty="0"/>
          </a:p>
        </p:txBody>
      </p:sp>
      <p:sp>
        <p:nvSpPr>
          <p:cNvPr id="3" name="Content Placeholder 2"/>
          <p:cNvSpPr>
            <a:spLocks noGrp="1"/>
          </p:cNvSpPr>
          <p:nvPr>
            <p:ph idx="1"/>
          </p:nvPr>
        </p:nvSpPr>
        <p:spPr>
          <a:xfrm>
            <a:off x="0" y="1295400"/>
            <a:ext cx="9144000" cy="5562600"/>
          </a:xfrm>
        </p:spPr>
        <p:txBody>
          <a:bodyPr>
            <a:normAutofit fontScale="47500" lnSpcReduction="20000"/>
          </a:bodyPr>
          <a:lstStyle/>
          <a:p>
            <a:r>
              <a:rPr lang="en-US" sz="5100" dirty="0" smtClean="0"/>
              <a:t>For Data Set 1:</a:t>
            </a:r>
          </a:p>
          <a:p>
            <a:r>
              <a:rPr lang="en-US" sz="3800" dirty="0" smtClean="0"/>
              <a:t>Accuracy: 0.8320802005012531 </a:t>
            </a:r>
          </a:p>
          <a:p>
            <a:r>
              <a:rPr lang="en-US" sz="3800" dirty="0" smtClean="0"/>
              <a:t>Classification Report:    precision    recall      f1-score      support </a:t>
            </a:r>
          </a:p>
          <a:p>
            <a:pPr>
              <a:buNone/>
            </a:pPr>
            <a:r>
              <a:rPr lang="en-US" sz="3800" dirty="0" smtClean="0"/>
              <a:t>                                           1    0.00          0.00           0.00              4</a:t>
            </a:r>
          </a:p>
          <a:p>
            <a:pPr>
              <a:buNone/>
            </a:pPr>
            <a:r>
              <a:rPr lang="en-US" sz="3800" dirty="0" smtClean="0"/>
              <a:t>                                           2    0.30          0.05           0.09              56</a:t>
            </a:r>
          </a:p>
          <a:p>
            <a:pPr>
              <a:buNone/>
            </a:pPr>
            <a:r>
              <a:rPr lang="en-US" sz="3800" dirty="0" smtClean="0"/>
              <a:t>                                           3    0.85          0.97           0.91             339 </a:t>
            </a:r>
          </a:p>
          <a:p>
            <a:pPr>
              <a:buNone/>
            </a:pPr>
            <a:r>
              <a:rPr lang="en-US" sz="3800" dirty="0" smtClean="0"/>
              <a:t>                     accuracy                                                  0.83             399 </a:t>
            </a:r>
          </a:p>
          <a:p>
            <a:pPr>
              <a:buNone/>
            </a:pPr>
            <a:r>
              <a:rPr lang="en-US" sz="3800" dirty="0" smtClean="0"/>
              <a:t>                      macro </a:t>
            </a:r>
            <a:r>
              <a:rPr lang="en-US" sz="3800" dirty="0" err="1" smtClean="0"/>
              <a:t>avg</a:t>
            </a:r>
            <a:r>
              <a:rPr lang="en-US" sz="3800" dirty="0" smtClean="0"/>
              <a:t>         0.38          0.34           0.33             399</a:t>
            </a:r>
          </a:p>
          <a:p>
            <a:pPr>
              <a:buNone/>
            </a:pPr>
            <a:r>
              <a:rPr lang="en-US" sz="3800" dirty="0" smtClean="0"/>
              <a:t>                  weighted </a:t>
            </a:r>
            <a:r>
              <a:rPr lang="en-US" sz="3800" dirty="0" err="1" smtClean="0"/>
              <a:t>avg</a:t>
            </a:r>
            <a:r>
              <a:rPr lang="en-US" sz="3800" dirty="0" smtClean="0"/>
              <a:t>        0.77         0.83            0.78             399 </a:t>
            </a:r>
            <a:r>
              <a:rPr lang="en-US" sz="2200" dirty="0" smtClean="0"/>
              <a:t/>
            </a:r>
            <a:br>
              <a:rPr lang="en-US" sz="2200" dirty="0" smtClean="0"/>
            </a:br>
            <a:endParaRPr lang="en-US" sz="2200" dirty="0" smtClean="0"/>
          </a:p>
          <a:p>
            <a:r>
              <a:rPr lang="en-US" sz="5100" dirty="0" smtClean="0"/>
              <a:t>For Data Set 2:</a:t>
            </a:r>
          </a:p>
          <a:p>
            <a:r>
              <a:rPr lang="en-US" sz="3800" dirty="0" smtClean="0"/>
              <a:t>Accuracy: 0.8167539267015707 </a:t>
            </a:r>
          </a:p>
          <a:p>
            <a:r>
              <a:rPr lang="en-US" sz="3800" dirty="0" smtClean="0"/>
              <a:t>Classification Report:        precision       recall       f1-score        support </a:t>
            </a:r>
          </a:p>
          <a:p>
            <a:pPr>
              <a:buNone/>
            </a:pPr>
            <a:r>
              <a:rPr lang="en-US" sz="3800" dirty="0"/>
              <a:t> </a:t>
            </a:r>
            <a:r>
              <a:rPr lang="en-US" sz="3800" dirty="0" smtClean="0"/>
              <a:t>                                   1                   0.00             0.00          0.00                6 </a:t>
            </a:r>
          </a:p>
          <a:p>
            <a:pPr>
              <a:buNone/>
            </a:pPr>
            <a:r>
              <a:rPr lang="en-US" sz="3800" dirty="0"/>
              <a:t> </a:t>
            </a:r>
            <a:r>
              <a:rPr lang="en-US" sz="3800" dirty="0" smtClean="0"/>
              <a:t>                                   2                   0.25             0.03          0.06               61 </a:t>
            </a:r>
          </a:p>
          <a:p>
            <a:pPr>
              <a:buNone/>
            </a:pPr>
            <a:r>
              <a:rPr lang="en-US" sz="3800" dirty="0"/>
              <a:t> </a:t>
            </a:r>
            <a:r>
              <a:rPr lang="en-US" sz="3800" dirty="0" smtClean="0"/>
              <a:t>                                   3                   0.83             0.98          0.90              315 </a:t>
            </a:r>
          </a:p>
          <a:p>
            <a:pPr>
              <a:buNone/>
            </a:pPr>
            <a:r>
              <a:rPr lang="en-US" sz="3800" dirty="0"/>
              <a:t> </a:t>
            </a:r>
            <a:r>
              <a:rPr lang="en-US" sz="3800" dirty="0" smtClean="0"/>
              <a:t>                       accuracy                                                         0.82              382 </a:t>
            </a:r>
          </a:p>
          <a:p>
            <a:pPr>
              <a:buNone/>
            </a:pPr>
            <a:r>
              <a:rPr lang="en-US" sz="3800" dirty="0" smtClean="0"/>
              <a:t>                     macro </a:t>
            </a:r>
            <a:r>
              <a:rPr lang="en-US" sz="3800" dirty="0" err="1" smtClean="0"/>
              <a:t>avg</a:t>
            </a:r>
            <a:r>
              <a:rPr lang="en-US" sz="3800" dirty="0" smtClean="0"/>
              <a:t>                  0.36              0.34          0.32              382 </a:t>
            </a:r>
          </a:p>
          <a:p>
            <a:pPr>
              <a:buNone/>
            </a:pPr>
            <a:r>
              <a:rPr lang="en-US" sz="3800" dirty="0"/>
              <a:t> </a:t>
            </a:r>
            <a:r>
              <a:rPr lang="en-US" sz="3800" dirty="0" smtClean="0"/>
              <a:t>                 weighted </a:t>
            </a:r>
            <a:r>
              <a:rPr lang="en-US" sz="3800" dirty="0" err="1" smtClean="0"/>
              <a:t>avg</a:t>
            </a:r>
            <a:r>
              <a:rPr lang="en-US" sz="3800" dirty="0" smtClean="0"/>
              <a:t>                0.72               0.82         0.75              382 </a:t>
            </a:r>
            <a:br>
              <a:rPr lang="en-US" sz="3800" dirty="0" smtClean="0"/>
            </a:br>
            <a:endParaRPr lang="en-US" sz="3800" dirty="0" smtClean="0"/>
          </a:p>
          <a:p>
            <a:endParaRPr lang="en-US" sz="3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Decision Tree Model</a:t>
            </a:r>
            <a:endParaRPr lang="en-US" dirty="0"/>
          </a:p>
        </p:txBody>
      </p:sp>
      <p:pic>
        <p:nvPicPr>
          <p:cNvPr id="22530" name="Picture 2"/>
          <p:cNvPicPr>
            <a:picLocks noGrp="1" noChangeAspect="1" noChangeArrowheads="1"/>
          </p:cNvPicPr>
          <p:nvPr>
            <p:ph idx="1"/>
          </p:nvPr>
        </p:nvPicPr>
        <p:blipFill>
          <a:blip r:embed="rId2"/>
          <a:srcRect/>
          <a:stretch>
            <a:fillRect/>
          </a:stretch>
        </p:blipFill>
        <p:spPr bwMode="auto">
          <a:xfrm>
            <a:off x="2438400" y="2058960"/>
            <a:ext cx="4419600" cy="4389466"/>
          </a:xfrm>
          <a:prstGeom prst="rect">
            <a:avLst/>
          </a:prstGeom>
          <a:noFill/>
          <a:ln w="9525">
            <a:noFill/>
            <a:miter lim="800000"/>
            <a:headEnd/>
            <a:tailEnd/>
          </a:ln>
          <a:effectLst/>
        </p:spPr>
      </p:pic>
      <p:sp>
        <p:nvSpPr>
          <p:cNvPr id="6" name="TextBox 5"/>
          <p:cNvSpPr txBox="1"/>
          <p:nvPr/>
        </p:nvSpPr>
        <p:spPr>
          <a:xfrm>
            <a:off x="838200" y="1447800"/>
            <a:ext cx="2819400" cy="861774"/>
          </a:xfrm>
          <a:prstGeom prst="rect">
            <a:avLst/>
          </a:prstGeom>
          <a:noFill/>
        </p:spPr>
        <p:txBody>
          <a:bodyPr wrap="square" rtlCol="0">
            <a:spAutoFit/>
          </a:bodyPr>
          <a:lstStyle/>
          <a:p>
            <a:r>
              <a:rPr lang="en-US" sz="3200" dirty="0" smtClean="0"/>
              <a:t>For Data Set 3</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hot (501).png"/>
          <p:cNvPicPr>
            <a:picLocks noGrp="1" noChangeAspect="1"/>
          </p:cNvPicPr>
          <p:nvPr>
            <p:ph idx="1"/>
          </p:nvPr>
        </p:nvPicPr>
        <p:blipFill>
          <a:blip r:embed="rId2"/>
          <a:stretch>
            <a:fillRect/>
          </a:stretch>
        </p:blipFill>
        <p:spPr>
          <a:xfrm>
            <a:off x="1371600" y="953010"/>
            <a:ext cx="6248400" cy="5904990"/>
          </a:xfr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Decision Tree Model</a:t>
            </a:r>
            <a:endParaRPr lang="en-US" dirty="0"/>
          </a:p>
        </p:txBody>
      </p:sp>
      <p:pic>
        <p:nvPicPr>
          <p:cNvPr id="23554" name="Picture 2"/>
          <p:cNvPicPr>
            <a:picLocks noGrp="1" noChangeAspect="1" noChangeArrowheads="1"/>
          </p:cNvPicPr>
          <p:nvPr>
            <p:ph idx="1"/>
          </p:nvPr>
        </p:nvPicPr>
        <p:blipFill>
          <a:blip r:embed="rId2"/>
          <a:srcRect/>
          <a:stretch>
            <a:fillRect/>
          </a:stretch>
        </p:blipFill>
        <p:spPr bwMode="auto">
          <a:xfrm>
            <a:off x="1143000" y="1600200"/>
            <a:ext cx="6096150" cy="5257800"/>
          </a:xfrm>
          <a:prstGeom prst="rect">
            <a:avLst/>
          </a:prstGeom>
          <a:noFill/>
          <a:ln w="9525">
            <a:noFill/>
            <a:miter lim="800000"/>
            <a:headEnd/>
            <a:tailEnd/>
          </a:ln>
          <a:effectLst/>
        </p:spPr>
      </p:pic>
      <p:sp>
        <p:nvSpPr>
          <p:cNvPr id="5" name="TextBox 4"/>
          <p:cNvSpPr txBox="1"/>
          <p:nvPr/>
        </p:nvSpPr>
        <p:spPr>
          <a:xfrm>
            <a:off x="762000" y="1066800"/>
            <a:ext cx="2225161" cy="523220"/>
          </a:xfrm>
          <a:prstGeom prst="rect">
            <a:avLst/>
          </a:prstGeom>
          <a:noFill/>
        </p:spPr>
        <p:txBody>
          <a:bodyPr wrap="none" rtlCol="0">
            <a:spAutoFit/>
          </a:bodyPr>
          <a:lstStyle/>
          <a:p>
            <a:r>
              <a:rPr lang="en-US" sz="2800" dirty="0" smtClean="0"/>
              <a:t>For Data Set 4</a:t>
            </a:r>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shot (505).png"/>
          <p:cNvPicPr>
            <a:picLocks noGrp="1" noChangeAspect="1"/>
          </p:cNvPicPr>
          <p:nvPr>
            <p:ph idx="1"/>
          </p:nvPr>
        </p:nvPicPr>
        <p:blipFill>
          <a:blip r:embed="rId2"/>
          <a:stretch>
            <a:fillRect/>
          </a:stretch>
        </p:blipFill>
        <p:spPr>
          <a:xfrm>
            <a:off x="1295400" y="457200"/>
            <a:ext cx="6129619" cy="6158600"/>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SVM Model</a:t>
            </a:r>
            <a:endParaRPr lang="en-US" dirty="0"/>
          </a:p>
        </p:txBody>
      </p:sp>
      <p:sp>
        <p:nvSpPr>
          <p:cNvPr id="3" name="Content Placeholder 2"/>
          <p:cNvSpPr>
            <a:spLocks noGrp="1"/>
          </p:cNvSpPr>
          <p:nvPr>
            <p:ph idx="1"/>
          </p:nvPr>
        </p:nvSpPr>
        <p:spPr>
          <a:xfrm>
            <a:off x="0" y="1295400"/>
            <a:ext cx="9144000" cy="5562600"/>
          </a:xfrm>
        </p:spPr>
        <p:txBody>
          <a:bodyPr>
            <a:normAutofit fontScale="62500" lnSpcReduction="20000"/>
          </a:bodyPr>
          <a:lstStyle/>
          <a:p>
            <a:r>
              <a:rPr lang="en-US" sz="4400" dirty="0" smtClean="0"/>
              <a:t>For Data Set 1</a:t>
            </a:r>
          </a:p>
          <a:p>
            <a:r>
              <a:rPr lang="en-US" sz="2900" dirty="0" smtClean="0"/>
              <a:t>Accuracy: 0.849624060150376 </a:t>
            </a:r>
          </a:p>
          <a:p>
            <a:r>
              <a:rPr lang="en-US" sz="2900" dirty="0" smtClean="0"/>
              <a:t>Classification Report:            precision       recall        f1-score       support</a:t>
            </a:r>
          </a:p>
          <a:p>
            <a:pPr>
              <a:buNone/>
            </a:pPr>
            <a:r>
              <a:rPr lang="en-US" sz="2900" dirty="0" smtClean="0"/>
              <a:t>                                            1            0.00             0.00           0.00               4</a:t>
            </a:r>
          </a:p>
          <a:p>
            <a:pPr>
              <a:buNone/>
            </a:pPr>
            <a:r>
              <a:rPr lang="en-US" sz="2900" dirty="0" smtClean="0"/>
              <a:t>                                            2            0.00             0.00           0.00              56 </a:t>
            </a:r>
          </a:p>
          <a:p>
            <a:pPr>
              <a:buNone/>
            </a:pPr>
            <a:r>
              <a:rPr lang="en-US" sz="2900" dirty="0" smtClean="0"/>
              <a:t>                                            3            0.85            1.00            0.92            339  </a:t>
            </a:r>
          </a:p>
          <a:p>
            <a:pPr>
              <a:buNone/>
            </a:pPr>
            <a:r>
              <a:rPr lang="en-US" sz="2900" dirty="0" smtClean="0"/>
              <a:t>                                       accuracy                                            0.85            399 </a:t>
            </a:r>
          </a:p>
          <a:p>
            <a:pPr>
              <a:buNone/>
            </a:pPr>
            <a:r>
              <a:rPr lang="en-US" sz="2900" dirty="0" smtClean="0"/>
              <a:t>                                   macro </a:t>
            </a:r>
            <a:r>
              <a:rPr lang="en-US" sz="2900" dirty="0" err="1" smtClean="0"/>
              <a:t>avg</a:t>
            </a:r>
            <a:r>
              <a:rPr lang="en-US" sz="2900" dirty="0" smtClean="0"/>
              <a:t>      0.28           0.33           0.31             399 </a:t>
            </a:r>
          </a:p>
          <a:p>
            <a:pPr>
              <a:buNone/>
            </a:pPr>
            <a:r>
              <a:rPr lang="en-US" sz="2900" dirty="0" smtClean="0"/>
              <a:t>                                weighted </a:t>
            </a:r>
            <a:r>
              <a:rPr lang="en-US" sz="2900" dirty="0" err="1" smtClean="0"/>
              <a:t>avg</a:t>
            </a:r>
            <a:r>
              <a:rPr lang="en-US" sz="2900" dirty="0" smtClean="0"/>
              <a:t>   0.72            0.85          0.78             399</a:t>
            </a:r>
          </a:p>
          <a:p>
            <a:r>
              <a:rPr lang="en-US" sz="4400" dirty="0" smtClean="0"/>
              <a:t>For Data Set 2</a:t>
            </a:r>
          </a:p>
          <a:p>
            <a:r>
              <a:rPr lang="en-US" sz="2900" dirty="0" smtClean="0"/>
              <a:t>Accuracy: 0.824607329842932 </a:t>
            </a:r>
          </a:p>
          <a:p>
            <a:r>
              <a:rPr lang="en-US" sz="2900" dirty="0" smtClean="0"/>
              <a:t>Classification Report:     precision      recall      f1-score      support </a:t>
            </a:r>
          </a:p>
          <a:p>
            <a:pPr>
              <a:buNone/>
            </a:pPr>
            <a:r>
              <a:rPr lang="en-US" sz="2900" dirty="0"/>
              <a:t> </a:t>
            </a:r>
            <a:r>
              <a:rPr lang="en-US" sz="2900" dirty="0" smtClean="0"/>
              <a:t>                               1                0.00              0.00         0.00           6 </a:t>
            </a:r>
          </a:p>
          <a:p>
            <a:pPr>
              <a:buNone/>
            </a:pPr>
            <a:r>
              <a:rPr lang="en-US" sz="2900" dirty="0"/>
              <a:t> </a:t>
            </a:r>
            <a:r>
              <a:rPr lang="en-US" sz="2900" dirty="0" smtClean="0"/>
              <a:t>                               2                0.00              0.00         0.00          61 </a:t>
            </a:r>
          </a:p>
          <a:p>
            <a:pPr>
              <a:buNone/>
            </a:pPr>
            <a:r>
              <a:rPr lang="en-US" sz="2900" dirty="0"/>
              <a:t> </a:t>
            </a:r>
            <a:r>
              <a:rPr lang="en-US" sz="2900" dirty="0" smtClean="0"/>
              <a:t>                               3                0.82              1.00         0.90          315 </a:t>
            </a:r>
          </a:p>
          <a:p>
            <a:pPr>
              <a:buNone/>
            </a:pPr>
            <a:r>
              <a:rPr lang="en-US" sz="2900" dirty="0"/>
              <a:t> </a:t>
            </a:r>
            <a:r>
              <a:rPr lang="en-US" sz="2900" dirty="0" smtClean="0"/>
              <a:t>                         accuracy                                                0.82          382 </a:t>
            </a:r>
          </a:p>
          <a:p>
            <a:pPr>
              <a:buNone/>
            </a:pPr>
            <a:r>
              <a:rPr lang="en-US" sz="2900" dirty="0"/>
              <a:t> </a:t>
            </a:r>
            <a:r>
              <a:rPr lang="en-US" sz="2900" dirty="0" smtClean="0"/>
              <a:t>                      macro </a:t>
            </a:r>
            <a:r>
              <a:rPr lang="en-US" sz="2900" dirty="0" err="1" smtClean="0"/>
              <a:t>avg</a:t>
            </a:r>
            <a:r>
              <a:rPr lang="en-US" sz="2900" dirty="0" smtClean="0"/>
              <a:t>          0.27              0.33         0.30          382 </a:t>
            </a:r>
          </a:p>
          <a:p>
            <a:pPr>
              <a:buNone/>
            </a:pPr>
            <a:r>
              <a:rPr lang="en-US" sz="2900" dirty="0"/>
              <a:t> </a:t>
            </a:r>
            <a:r>
              <a:rPr lang="en-US" sz="2900" dirty="0" smtClean="0"/>
              <a:t>                 weighted </a:t>
            </a:r>
            <a:r>
              <a:rPr lang="en-US" sz="2900" dirty="0" err="1" smtClean="0"/>
              <a:t>avg</a:t>
            </a:r>
            <a:r>
              <a:rPr lang="en-US" sz="2900" dirty="0" smtClean="0"/>
              <a:t>         0.68               0.82         0.75          382 </a:t>
            </a:r>
            <a:br>
              <a:rPr lang="en-US" sz="2900" dirty="0" smtClean="0"/>
            </a:br>
            <a:endParaRPr lang="en-US" sz="2900" dirty="0"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SVM Model</a:t>
            </a:r>
            <a:endParaRPr lang="en-US" dirty="0"/>
          </a:p>
        </p:txBody>
      </p:sp>
      <p:sp>
        <p:nvSpPr>
          <p:cNvPr id="3" name="Content Placeholder 2"/>
          <p:cNvSpPr>
            <a:spLocks noGrp="1"/>
          </p:cNvSpPr>
          <p:nvPr>
            <p:ph idx="1"/>
          </p:nvPr>
        </p:nvSpPr>
        <p:spPr/>
        <p:txBody>
          <a:bodyPr/>
          <a:lstStyle/>
          <a:p>
            <a:r>
              <a:rPr lang="en-US" dirty="0" smtClean="0"/>
              <a:t>For Data Set 3</a:t>
            </a:r>
          </a:p>
          <a:p>
            <a:r>
              <a:rPr lang="en-US" sz="2000" dirty="0" smtClean="0"/>
              <a:t>Accuracy: 0.0 </a:t>
            </a:r>
          </a:p>
          <a:p>
            <a:r>
              <a:rPr lang="en-US" sz="2000" dirty="0" smtClean="0"/>
              <a:t>Classification Report:      precision      recall       f1-score       support </a:t>
            </a:r>
          </a:p>
          <a:p>
            <a:pPr>
              <a:buNone/>
            </a:pPr>
            <a:r>
              <a:rPr lang="en-US" sz="2000" dirty="0"/>
              <a:t> </a:t>
            </a:r>
            <a:r>
              <a:rPr lang="en-US" sz="2000" dirty="0" smtClean="0"/>
              <a:t>                                    0               0.00              0.00          0.00              0.0 </a:t>
            </a:r>
          </a:p>
          <a:p>
            <a:pPr>
              <a:buNone/>
            </a:pPr>
            <a:r>
              <a:rPr lang="en-US" sz="2000" dirty="0"/>
              <a:t> </a:t>
            </a:r>
            <a:r>
              <a:rPr lang="en-US" sz="2000" dirty="0" smtClean="0"/>
              <a:t>                                    1               0.00              0.00          0.00              1.0 </a:t>
            </a:r>
          </a:p>
          <a:p>
            <a:pPr>
              <a:buNone/>
            </a:pPr>
            <a:r>
              <a:rPr lang="en-US" sz="2000" dirty="0"/>
              <a:t> </a:t>
            </a:r>
            <a:r>
              <a:rPr lang="en-US" sz="2000" dirty="0" smtClean="0"/>
              <a:t>                              accuracy                                                0.00              1.0 </a:t>
            </a:r>
          </a:p>
          <a:p>
            <a:pPr>
              <a:buNone/>
            </a:pPr>
            <a:r>
              <a:rPr lang="en-US" sz="2000" dirty="0"/>
              <a:t> </a:t>
            </a:r>
            <a:r>
              <a:rPr lang="en-US" sz="2000" dirty="0" smtClean="0"/>
              <a:t>                           macro </a:t>
            </a:r>
            <a:r>
              <a:rPr lang="en-US" sz="2000" dirty="0" err="1" smtClean="0"/>
              <a:t>avg</a:t>
            </a:r>
            <a:r>
              <a:rPr lang="en-US" sz="2000" dirty="0" smtClean="0"/>
              <a:t>         0.00              0.00          0.00             1.0</a:t>
            </a:r>
          </a:p>
          <a:p>
            <a:pPr>
              <a:buNone/>
            </a:pPr>
            <a:r>
              <a:rPr lang="en-US" sz="2000" dirty="0"/>
              <a:t> </a:t>
            </a:r>
            <a:r>
              <a:rPr lang="en-US" sz="2000" dirty="0" smtClean="0"/>
              <a:t>                       weighted </a:t>
            </a:r>
            <a:r>
              <a:rPr lang="en-US" sz="2000" dirty="0" err="1" smtClean="0"/>
              <a:t>avg</a:t>
            </a:r>
            <a:r>
              <a:rPr lang="en-US" sz="2000" dirty="0" smtClean="0"/>
              <a:t>       0.00              0.00         0.00               1.0 </a:t>
            </a:r>
            <a:br>
              <a:rPr lang="en-US" sz="2000" dirty="0" smtClean="0"/>
            </a:br>
            <a:endParaRPr lang="en-US" sz="2000" dirty="0" smtClean="0"/>
          </a:p>
          <a:p>
            <a:pPr>
              <a:buNone/>
            </a:pPr>
            <a:endParaRPr lang="en-US" dirty="0" smtClean="0"/>
          </a:p>
          <a:p>
            <a:endParaRPr lang="en-US" dirty="0" smtClean="0"/>
          </a:p>
          <a:p>
            <a:endParaRPr lang="en-US" dirty="0" smtClean="0"/>
          </a:p>
          <a:p>
            <a:endParaRPr lang="en-US" dirty="0" smtClean="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04800"/>
            <a:ext cx="9144000" cy="6553200"/>
          </a:xfrm>
        </p:spPr>
        <p:txBody>
          <a:bodyPr/>
          <a:lstStyle/>
          <a:p>
            <a:r>
              <a:rPr lang="en-US" dirty="0" smtClean="0"/>
              <a:t>For Data Set 4</a:t>
            </a:r>
          </a:p>
          <a:p>
            <a:endParaRPr lang="en-US" dirty="0"/>
          </a:p>
        </p:txBody>
      </p:sp>
      <p:pic>
        <p:nvPicPr>
          <p:cNvPr id="24578" name="Picture 2"/>
          <p:cNvPicPr>
            <a:picLocks noChangeAspect="1" noChangeArrowheads="1"/>
          </p:cNvPicPr>
          <p:nvPr/>
        </p:nvPicPr>
        <p:blipFill>
          <a:blip r:embed="rId2"/>
          <a:srcRect/>
          <a:stretch>
            <a:fillRect/>
          </a:stretch>
        </p:blipFill>
        <p:spPr bwMode="auto">
          <a:xfrm>
            <a:off x="1600200" y="990600"/>
            <a:ext cx="6096000" cy="586740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Grp="1" noChangeAspect="1" noChangeArrowheads="1"/>
          </p:cNvPicPr>
          <p:nvPr>
            <p:ph idx="1"/>
          </p:nvPr>
        </p:nvPicPr>
        <p:blipFill>
          <a:blip r:embed="rId2"/>
          <a:srcRect/>
          <a:stretch>
            <a:fillRect/>
          </a:stretch>
        </p:blipFill>
        <p:spPr bwMode="auto">
          <a:xfrm>
            <a:off x="1600200" y="534558"/>
            <a:ext cx="5410200" cy="6323442"/>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Forest Model</a:t>
            </a:r>
            <a:endParaRPr lang="en-US" dirty="0"/>
          </a:p>
        </p:txBody>
      </p:sp>
      <p:sp>
        <p:nvSpPr>
          <p:cNvPr id="3" name="Content Placeholder 2"/>
          <p:cNvSpPr>
            <a:spLocks noGrp="1"/>
          </p:cNvSpPr>
          <p:nvPr>
            <p:ph idx="1"/>
          </p:nvPr>
        </p:nvSpPr>
        <p:spPr>
          <a:xfrm>
            <a:off x="0" y="1143000"/>
            <a:ext cx="9144000" cy="5715000"/>
          </a:xfrm>
        </p:spPr>
        <p:txBody>
          <a:bodyPr>
            <a:normAutofit fontScale="85000" lnSpcReduction="20000"/>
          </a:bodyPr>
          <a:lstStyle/>
          <a:p>
            <a:r>
              <a:rPr lang="en-US" dirty="0" smtClean="0"/>
              <a:t>For Data Set 1</a:t>
            </a:r>
          </a:p>
          <a:p>
            <a:r>
              <a:rPr lang="en-US" sz="2100" dirty="0" smtClean="0"/>
              <a:t>Accuracy: 0.8395989974937343 </a:t>
            </a:r>
          </a:p>
          <a:p>
            <a:r>
              <a:rPr lang="en-US" sz="2100" dirty="0" smtClean="0"/>
              <a:t>Classification Report:        precision     recall       f1-score       support </a:t>
            </a:r>
          </a:p>
          <a:p>
            <a:pPr>
              <a:buNone/>
            </a:pPr>
            <a:r>
              <a:rPr lang="en-US" sz="2100" dirty="0"/>
              <a:t> </a:t>
            </a:r>
            <a:r>
              <a:rPr lang="en-US" sz="2100" dirty="0" smtClean="0"/>
              <a:t>                                   1          0.00                   0.00         0.00               4 </a:t>
            </a:r>
          </a:p>
          <a:p>
            <a:pPr>
              <a:buNone/>
            </a:pPr>
            <a:r>
              <a:rPr lang="en-US" sz="2100" dirty="0"/>
              <a:t> </a:t>
            </a:r>
            <a:r>
              <a:rPr lang="en-US" sz="2100" dirty="0" smtClean="0"/>
              <a:t>                                   2          0.43                   0.05         0.10              56 </a:t>
            </a:r>
          </a:p>
          <a:p>
            <a:pPr>
              <a:buNone/>
            </a:pPr>
            <a:r>
              <a:rPr lang="en-US" sz="2100" dirty="0"/>
              <a:t> </a:t>
            </a:r>
            <a:r>
              <a:rPr lang="en-US" sz="2100" dirty="0" smtClean="0"/>
              <a:t>                                   3          0.85                   0.98         0.91             339 </a:t>
            </a:r>
          </a:p>
          <a:p>
            <a:pPr>
              <a:buNone/>
            </a:pPr>
            <a:r>
              <a:rPr lang="en-US" sz="2100" dirty="0"/>
              <a:t> </a:t>
            </a:r>
            <a:r>
              <a:rPr lang="en-US" sz="2100" dirty="0" smtClean="0"/>
              <a:t>                    accuracy                                                       0.84              399 </a:t>
            </a:r>
          </a:p>
          <a:p>
            <a:pPr>
              <a:buNone/>
            </a:pPr>
            <a:r>
              <a:rPr lang="en-US" sz="2100" dirty="0"/>
              <a:t> </a:t>
            </a:r>
            <a:r>
              <a:rPr lang="en-US" sz="2100" dirty="0" smtClean="0"/>
              <a:t>                macro </a:t>
            </a:r>
            <a:r>
              <a:rPr lang="en-US" sz="2100" dirty="0" err="1" smtClean="0"/>
              <a:t>avg</a:t>
            </a:r>
            <a:r>
              <a:rPr lang="en-US" sz="2100" dirty="0" smtClean="0"/>
              <a:t>             0.43                  0.34          0.34             399 </a:t>
            </a:r>
          </a:p>
          <a:p>
            <a:pPr>
              <a:buNone/>
            </a:pPr>
            <a:r>
              <a:rPr lang="en-US" sz="2100" dirty="0"/>
              <a:t> </a:t>
            </a:r>
            <a:r>
              <a:rPr lang="en-US" sz="2100" dirty="0" smtClean="0"/>
              <a:t>           weighted </a:t>
            </a:r>
            <a:r>
              <a:rPr lang="en-US" sz="2100" dirty="0" err="1" smtClean="0"/>
              <a:t>avg</a:t>
            </a:r>
            <a:r>
              <a:rPr lang="en-US" sz="2100" dirty="0" smtClean="0"/>
              <a:t>             0.79                  0.84          0.79             399 </a:t>
            </a:r>
            <a:br>
              <a:rPr lang="en-US" sz="2100" dirty="0" smtClean="0"/>
            </a:br>
            <a:endParaRPr lang="en-US" sz="2100" dirty="0" smtClean="0"/>
          </a:p>
          <a:p>
            <a:r>
              <a:rPr lang="en-US" dirty="0" smtClean="0"/>
              <a:t>For Data Set 2</a:t>
            </a:r>
          </a:p>
          <a:p>
            <a:r>
              <a:rPr lang="en-US" sz="2100" dirty="0" smtClean="0"/>
              <a:t>Accuracy: 0.8167539267015707 </a:t>
            </a:r>
          </a:p>
          <a:p>
            <a:r>
              <a:rPr lang="en-US" sz="2100" dirty="0" smtClean="0"/>
              <a:t>Classification Report:         precision        recall         f1-score         support </a:t>
            </a:r>
          </a:p>
          <a:p>
            <a:pPr>
              <a:buNone/>
            </a:pPr>
            <a:r>
              <a:rPr lang="en-US" sz="2100" dirty="0"/>
              <a:t> </a:t>
            </a:r>
            <a:r>
              <a:rPr lang="en-US" sz="2100" dirty="0" smtClean="0"/>
              <a:t>                                     1                   0.00               0.00            0.00               6 </a:t>
            </a:r>
          </a:p>
          <a:p>
            <a:pPr>
              <a:buNone/>
            </a:pPr>
            <a:r>
              <a:rPr lang="en-US" sz="2100" dirty="0"/>
              <a:t> </a:t>
            </a:r>
            <a:r>
              <a:rPr lang="en-US" sz="2100" dirty="0" smtClean="0"/>
              <a:t>                                     2                   0.17                0.02           0.03              61 </a:t>
            </a:r>
          </a:p>
          <a:p>
            <a:pPr>
              <a:buNone/>
            </a:pPr>
            <a:r>
              <a:rPr lang="en-US" sz="2100" dirty="0"/>
              <a:t> </a:t>
            </a:r>
            <a:r>
              <a:rPr lang="en-US" sz="2100" dirty="0" smtClean="0"/>
              <a:t>                                     3                   0.83               0.99            0.90             315 </a:t>
            </a:r>
          </a:p>
          <a:p>
            <a:pPr>
              <a:buNone/>
            </a:pPr>
            <a:r>
              <a:rPr lang="en-US" sz="2100" dirty="0"/>
              <a:t> </a:t>
            </a:r>
            <a:r>
              <a:rPr lang="en-US" sz="2100" dirty="0" smtClean="0"/>
              <a:t>                         accuracy                                                             0.82             382 </a:t>
            </a:r>
          </a:p>
          <a:p>
            <a:pPr>
              <a:buNone/>
            </a:pPr>
            <a:r>
              <a:rPr lang="en-US" sz="2100" dirty="0"/>
              <a:t> </a:t>
            </a:r>
            <a:r>
              <a:rPr lang="en-US" sz="2100" dirty="0" smtClean="0"/>
              <a:t>                      macro </a:t>
            </a:r>
            <a:r>
              <a:rPr lang="en-US" sz="2100" dirty="0" err="1" smtClean="0"/>
              <a:t>avg</a:t>
            </a:r>
            <a:r>
              <a:rPr lang="en-US" sz="2100" dirty="0" smtClean="0"/>
              <a:t>                0.33                 0.33            0.31             382 </a:t>
            </a:r>
          </a:p>
          <a:p>
            <a:pPr>
              <a:buNone/>
            </a:pPr>
            <a:r>
              <a:rPr lang="en-US" sz="2100" dirty="0"/>
              <a:t> </a:t>
            </a:r>
            <a:r>
              <a:rPr lang="en-US" sz="2100" dirty="0" smtClean="0"/>
              <a:t>                  weighted </a:t>
            </a:r>
            <a:r>
              <a:rPr lang="en-US" sz="2100" dirty="0" err="1" smtClean="0"/>
              <a:t>avg</a:t>
            </a:r>
            <a:r>
              <a:rPr lang="en-US" sz="2100" dirty="0" smtClean="0"/>
              <a:t>               0.71                 0.82            0.75            382 </a:t>
            </a:r>
            <a:br>
              <a:rPr lang="en-US" sz="2100" dirty="0" smtClean="0"/>
            </a:br>
            <a:endParaRPr lang="en-US" sz="2100" dirty="0" smtClean="0"/>
          </a:p>
          <a:p>
            <a:pPr>
              <a:buNone/>
            </a:pP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Random Forest Model</a:t>
            </a:r>
            <a:br>
              <a:rPr lang="en-US" dirty="0" smtClean="0"/>
            </a:br>
            <a:endParaRPr lang="en-US" dirty="0"/>
          </a:p>
        </p:txBody>
      </p:sp>
      <p:pic>
        <p:nvPicPr>
          <p:cNvPr id="21506" name="Picture 2"/>
          <p:cNvPicPr>
            <a:picLocks noGrp="1" noChangeAspect="1" noChangeArrowheads="1"/>
          </p:cNvPicPr>
          <p:nvPr>
            <p:ph idx="1"/>
          </p:nvPr>
        </p:nvPicPr>
        <p:blipFill>
          <a:blip r:embed="rId2"/>
          <a:srcRect/>
          <a:stretch>
            <a:fillRect/>
          </a:stretch>
        </p:blipFill>
        <p:spPr bwMode="auto">
          <a:xfrm>
            <a:off x="1524000" y="1517663"/>
            <a:ext cx="6096000" cy="5340337"/>
          </a:xfrm>
          <a:prstGeom prst="rect">
            <a:avLst/>
          </a:prstGeom>
          <a:noFill/>
          <a:ln w="9525">
            <a:noFill/>
            <a:miter lim="800000"/>
            <a:headEnd/>
            <a:tailEnd/>
          </a:ln>
          <a:effectLst/>
        </p:spPr>
      </p:pic>
      <p:sp>
        <p:nvSpPr>
          <p:cNvPr id="5" name="TextBox 4"/>
          <p:cNvSpPr txBox="1"/>
          <p:nvPr/>
        </p:nvSpPr>
        <p:spPr>
          <a:xfrm>
            <a:off x="762000" y="990600"/>
            <a:ext cx="2514600" cy="523220"/>
          </a:xfrm>
          <a:prstGeom prst="rect">
            <a:avLst/>
          </a:prstGeom>
          <a:noFill/>
        </p:spPr>
        <p:txBody>
          <a:bodyPr wrap="square" rtlCol="0">
            <a:spAutoFit/>
          </a:bodyPr>
          <a:lstStyle/>
          <a:p>
            <a:r>
              <a:rPr lang="en-US" sz="2800" dirty="0" smtClean="0"/>
              <a:t>For Data Set 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Random Forest Model</a:t>
            </a:r>
            <a:br>
              <a:rPr lang="en-US" dirty="0" smtClean="0"/>
            </a:br>
            <a:endParaRPr lang="en-US" dirty="0"/>
          </a:p>
        </p:txBody>
      </p:sp>
      <p:sp>
        <p:nvSpPr>
          <p:cNvPr id="3" name="Content Placeholder 2"/>
          <p:cNvSpPr>
            <a:spLocks noGrp="1"/>
          </p:cNvSpPr>
          <p:nvPr>
            <p:ph idx="1"/>
          </p:nvPr>
        </p:nvSpPr>
        <p:spPr>
          <a:xfrm>
            <a:off x="457200" y="990600"/>
            <a:ext cx="8229600" cy="5135563"/>
          </a:xfrm>
        </p:spPr>
        <p:txBody>
          <a:bodyPr/>
          <a:lstStyle/>
          <a:p>
            <a:r>
              <a:rPr lang="en-US" dirty="0" smtClean="0"/>
              <a:t>For Data Set 4 </a:t>
            </a:r>
            <a:endParaRPr lang="en-US" dirty="0"/>
          </a:p>
        </p:txBody>
      </p:sp>
      <p:pic>
        <p:nvPicPr>
          <p:cNvPr id="26626" name="Picture 2"/>
          <p:cNvPicPr>
            <a:picLocks noChangeAspect="1" noChangeArrowheads="1"/>
          </p:cNvPicPr>
          <p:nvPr/>
        </p:nvPicPr>
        <p:blipFill>
          <a:blip r:embed="rId2"/>
          <a:srcRect/>
          <a:stretch>
            <a:fillRect/>
          </a:stretch>
        </p:blipFill>
        <p:spPr bwMode="auto">
          <a:xfrm>
            <a:off x="2133600" y="1505093"/>
            <a:ext cx="5029200" cy="5352907"/>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Grp="1" noChangeAspect="1" noChangeArrowheads="1"/>
          </p:cNvPicPr>
          <p:nvPr>
            <p:ph idx="1"/>
          </p:nvPr>
        </p:nvPicPr>
        <p:blipFill>
          <a:blip r:embed="rId2"/>
          <a:srcRect/>
          <a:stretch>
            <a:fillRect/>
          </a:stretch>
        </p:blipFill>
        <p:spPr bwMode="auto">
          <a:xfrm>
            <a:off x="1295400" y="990600"/>
            <a:ext cx="6172200" cy="5867400"/>
          </a:xfrm>
          <a:prstGeom prst="rect">
            <a:avLst/>
          </a:prstGeom>
          <a:noFill/>
          <a:ln w="9525">
            <a:noFill/>
            <a:miter lim="800000"/>
            <a:headEnd/>
            <a:tailEnd/>
          </a:ln>
          <a:effectLst/>
        </p:spPr>
      </p:pic>
      <p:sp>
        <p:nvSpPr>
          <p:cNvPr id="5" name="TextBox 4"/>
          <p:cNvSpPr txBox="1"/>
          <p:nvPr/>
        </p:nvSpPr>
        <p:spPr>
          <a:xfrm>
            <a:off x="838200" y="457200"/>
            <a:ext cx="2225161" cy="523220"/>
          </a:xfrm>
          <a:prstGeom prst="rect">
            <a:avLst/>
          </a:prstGeom>
          <a:noFill/>
        </p:spPr>
        <p:txBody>
          <a:bodyPr wrap="none" rtlCol="0">
            <a:spAutoFit/>
          </a:bodyPr>
          <a:lstStyle/>
          <a:p>
            <a:r>
              <a:rPr lang="en-US" sz="2800" dirty="0" smtClean="0"/>
              <a:t>For Data Set 4</a:t>
            </a:r>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EVALUATION METRICS</a:t>
            </a:r>
            <a:endParaRPr lang="en-US" dirty="0"/>
          </a:p>
        </p:txBody>
      </p:sp>
      <p:sp>
        <p:nvSpPr>
          <p:cNvPr id="3" name="Content Placeholder 2"/>
          <p:cNvSpPr>
            <a:spLocks noGrp="1"/>
          </p:cNvSpPr>
          <p:nvPr>
            <p:ph idx="1"/>
          </p:nvPr>
        </p:nvSpPr>
        <p:spPr>
          <a:xfrm>
            <a:off x="0" y="1143000"/>
            <a:ext cx="9144000" cy="5715000"/>
          </a:xfrm>
        </p:spPr>
        <p:txBody>
          <a:bodyPr>
            <a:normAutofit lnSpcReduction="10000"/>
          </a:bodyPr>
          <a:lstStyle/>
          <a:p>
            <a:r>
              <a:rPr lang="en-US" sz="2400" dirty="0" smtClean="0"/>
              <a:t>Accuracy</a:t>
            </a:r>
            <a:r>
              <a:rPr lang="en-US" sz="2000" dirty="0" smtClean="0"/>
              <a:t>: Accuracy is a common metric to consider, especially when you are dealing with a balanced dataset and want to measure the overall correctness of your predictions. However, accuracy may not be the best metric if the dataset is imbalanced, as it can be misleading.</a:t>
            </a:r>
          </a:p>
          <a:p>
            <a:r>
              <a:rPr lang="en-US" sz="2400" dirty="0" smtClean="0"/>
              <a:t>Precision and Recall: </a:t>
            </a:r>
            <a:r>
              <a:rPr lang="en-US" sz="2000" dirty="0" smtClean="0"/>
              <a:t>are crucial for evaluating the performance of a model, particularly when dealing with imbalanced datasets. Precision measures the ability of the model to correctly identify positive cases (accidents), while recall measures the model's ability to find all positive cases. Depending on the application, you may want to prioritize precision (minimizing false alarms) or recall (minimizing missed accidents).</a:t>
            </a:r>
          </a:p>
          <a:p>
            <a:r>
              <a:rPr lang="en-US" sz="2400" dirty="0" smtClean="0"/>
              <a:t>Mean Absolute Error (MAE) or Mean Squared Error (MSE): </a:t>
            </a:r>
            <a:r>
              <a:rPr lang="en-US" sz="2000" dirty="0" smtClean="0"/>
              <a:t>If your prediction task involves predicting the severity, frequency, or impact of accidents (e.g., the number of casualties or property damage), regression metrics like MAE or MSE can be used to measure the accuracy of your predictions.</a:t>
            </a:r>
          </a:p>
          <a:p>
            <a:r>
              <a:rPr lang="en-US" sz="2400" dirty="0" smtClean="0"/>
              <a:t>Log Loss (Logarithmic Loss): </a:t>
            </a:r>
            <a:r>
              <a:rPr lang="en-US" sz="2000" dirty="0" smtClean="0"/>
              <a:t>If your model outputs probabilities, you can use log loss to measure the accuracy of these probabilities. This metric is particularly relevant for probabilistic models.</a:t>
            </a:r>
          </a:p>
          <a:p>
            <a:endParaRPr lang="en-US" sz="2000" dirty="0" smtClean="0"/>
          </a:p>
          <a:p>
            <a:endParaRPr lang="en-US" sz="2000" dirty="0" smtClean="0"/>
          </a:p>
          <a:p>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04800"/>
            <a:ext cx="9144000" cy="6553200"/>
          </a:xfrm>
        </p:spPr>
        <p:txBody>
          <a:bodyPr/>
          <a:lstStyle/>
          <a:p>
            <a:r>
              <a:rPr lang="en-US" sz="2400" dirty="0" smtClean="0"/>
              <a:t>Root Mean Squared Error (RMSE</a:t>
            </a:r>
            <a:r>
              <a:rPr lang="en-US" sz="2000" dirty="0" smtClean="0"/>
              <a:t>): If you are using regression models and need to measure the error in predicting accident severity or other continuous values, RMSE can be a suitable metric.</a:t>
            </a:r>
          </a:p>
          <a:p>
            <a:endParaRPr lang="en-US" sz="2000" dirty="0" smtClean="0"/>
          </a:p>
          <a:p>
            <a:r>
              <a:rPr lang="en-US" sz="2800" b="1" dirty="0" smtClean="0"/>
              <a:t>Summary</a:t>
            </a:r>
          </a:p>
          <a:p>
            <a:r>
              <a:rPr lang="en-US" sz="2000" dirty="0" smtClean="0"/>
              <a:t>Maximum Accuracy  : 83.20%</a:t>
            </a:r>
          </a:p>
          <a:p>
            <a:r>
              <a:rPr lang="en-US" sz="2000" dirty="0" smtClean="0"/>
              <a:t>Maximum Precision: 76.81%</a:t>
            </a:r>
          </a:p>
          <a:p>
            <a:r>
              <a:rPr lang="en-US" sz="2000" dirty="0" smtClean="0"/>
              <a:t>                       Recall: 83.21%</a:t>
            </a:r>
          </a:p>
          <a:p>
            <a:r>
              <a:rPr lang="en-US" sz="2000" dirty="0" smtClean="0"/>
              <a:t>Maximum Mean Absolute Error (MAE): 29.97%</a:t>
            </a:r>
          </a:p>
          <a:p>
            <a:r>
              <a:rPr lang="en-US" sz="2000" dirty="0" smtClean="0"/>
              <a:t>Maximum Mean Squared Error (MSE): 19.69%</a:t>
            </a:r>
          </a:p>
          <a:p>
            <a:r>
              <a:rPr lang="en-US" sz="2000" dirty="0" smtClean="0"/>
              <a:t>Maximum Log Loss: 91.55%</a:t>
            </a:r>
          </a:p>
          <a:p>
            <a:r>
              <a:rPr lang="en-US" sz="2000" dirty="0" smtClean="0"/>
              <a:t>Maximum Mean Squared Error (RMSE): 44.38%</a:t>
            </a:r>
          </a:p>
          <a:p>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0400" y="2514600"/>
            <a:ext cx="3200400" cy="1828800"/>
          </a:xfrm>
        </p:spPr>
        <p:txBody>
          <a:bodyPr>
            <a:normAutofit/>
          </a:bodyPr>
          <a:lstStyle/>
          <a:p>
            <a:pPr>
              <a:buNone/>
            </a:pPr>
            <a:r>
              <a:rPr lang="en-US" sz="4400" b="1" dirty="0" smtClean="0"/>
              <a:t>Thank You</a:t>
            </a:r>
            <a:endParaRPr lang="en-US" sz="44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603</TotalTime>
  <Words>1452</Words>
  <Application>Microsoft Office PowerPoint</Application>
  <PresentationFormat>On-screen Show (4:3)</PresentationFormat>
  <Paragraphs>410</Paragraphs>
  <Slides>44</Slides>
  <Notes>0</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TRAFFIC ACCIDENT PREDICTION  </vt:lpstr>
      <vt:lpstr>OUTLINES</vt:lpstr>
      <vt:lpstr>Introduction </vt:lpstr>
      <vt:lpstr>Objectives</vt:lpstr>
      <vt:lpstr>1st Dataset   </vt:lpstr>
      <vt:lpstr>Mean , Median or Mode for Dataset 1: </vt:lpstr>
      <vt:lpstr>Frequency and Data Distributions using Histogram For Data Set 1 </vt:lpstr>
      <vt:lpstr>Correlation heat map for numeric columns </vt:lpstr>
      <vt:lpstr>Outliers in Data Set 1</vt:lpstr>
      <vt:lpstr>2nd Dataset   </vt:lpstr>
      <vt:lpstr>Mean , Median or Mode for Dataset 2: </vt:lpstr>
      <vt:lpstr> Frequency and Data Distributions using Histogram For Data Set 2 </vt:lpstr>
      <vt:lpstr>Correlation heat map for numeric columns </vt:lpstr>
      <vt:lpstr>Outliers for Data Set 2</vt:lpstr>
      <vt:lpstr>3rd Dataset   </vt:lpstr>
      <vt:lpstr>Mean , Median or Mode for Dataset 3 </vt:lpstr>
      <vt:lpstr>Frequency and Data Distributions using Histogram For Data Set 3 </vt:lpstr>
      <vt:lpstr>Correlation heat map for numeric columns </vt:lpstr>
      <vt:lpstr>Outlier for Data Set 3</vt:lpstr>
      <vt:lpstr>4th Dataset   </vt:lpstr>
      <vt:lpstr>Mean , Median or Mode for Dataset 4 </vt:lpstr>
      <vt:lpstr>Frequency and Data Distributions using Histogram For Data Set 4 </vt:lpstr>
      <vt:lpstr>Correlation heat map for numeric columns </vt:lpstr>
      <vt:lpstr>Outliers for Data Set 4</vt:lpstr>
      <vt:lpstr>Model Training</vt:lpstr>
      <vt:lpstr>Model Training</vt:lpstr>
      <vt:lpstr>Linear Regression Model  </vt:lpstr>
      <vt:lpstr>Linear Regression Model  </vt:lpstr>
      <vt:lpstr>Decision Tree Model</vt:lpstr>
      <vt:lpstr>Decision Tree Model</vt:lpstr>
      <vt:lpstr>Slide 31</vt:lpstr>
      <vt:lpstr>Decision Tree Model</vt:lpstr>
      <vt:lpstr>Slide 33</vt:lpstr>
      <vt:lpstr>SVM Model</vt:lpstr>
      <vt:lpstr>SVM Model</vt:lpstr>
      <vt:lpstr>Slide 36</vt:lpstr>
      <vt:lpstr>Slide 37</vt:lpstr>
      <vt:lpstr>Random Forest Model</vt:lpstr>
      <vt:lpstr>Random Forest Model </vt:lpstr>
      <vt:lpstr>Random Forest Model </vt:lpstr>
      <vt:lpstr>Slide 41</vt:lpstr>
      <vt:lpstr>EVALUATION METRICS</vt:lpstr>
      <vt:lpstr>Slide 43</vt:lpstr>
      <vt:lpstr>Slide 44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ACCIDENT PREDICTION</dc:title>
  <dc:creator>lenovo</dc:creator>
  <cp:lastModifiedBy>lenovo</cp:lastModifiedBy>
  <cp:revision>2</cp:revision>
  <dcterms:created xsi:type="dcterms:W3CDTF">2023-10-24T08:28:21Z</dcterms:created>
  <dcterms:modified xsi:type="dcterms:W3CDTF">2024-05-12T05:52:57Z</dcterms:modified>
</cp:coreProperties>
</file>